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4"/>
  </p:sldMasterIdLst>
  <p:notesMasterIdLst>
    <p:notesMasterId r:id="rId42"/>
  </p:notesMasterIdLst>
  <p:handoutMasterIdLst>
    <p:handoutMasterId r:id="rId43"/>
  </p:handoutMasterIdLst>
  <p:sldIdLst>
    <p:sldId id="304" r:id="rId5"/>
    <p:sldId id="296" r:id="rId6"/>
    <p:sldId id="350" r:id="rId7"/>
    <p:sldId id="299" r:id="rId8"/>
    <p:sldId id="298" r:id="rId9"/>
    <p:sldId id="351" r:id="rId10"/>
    <p:sldId id="326" r:id="rId11"/>
    <p:sldId id="324" r:id="rId12"/>
    <p:sldId id="327" r:id="rId13"/>
    <p:sldId id="348" r:id="rId14"/>
    <p:sldId id="308" r:id="rId15"/>
    <p:sldId id="309" r:id="rId16"/>
    <p:sldId id="310" r:id="rId17"/>
    <p:sldId id="311" r:id="rId18"/>
    <p:sldId id="312" r:id="rId19"/>
    <p:sldId id="349" r:id="rId20"/>
    <p:sldId id="346" r:id="rId21"/>
    <p:sldId id="323" r:id="rId22"/>
    <p:sldId id="313" r:id="rId23"/>
    <p:sldId id="317" r:id="rId24"/>
    <p:sldId id="320" r:id="rId25"/>
    <p:sldId id="321" r:id="rId26"/>
    <p:sldId id="322" r:id="rId27"/>
    <p:sldId id="335" r:id="rId28"/>
    <p:sldId id="334" r:id="rId29"/>
    <p:sldId id="337" r:id="rId30"/>
    <p:sldId id="328" r:id="rId31"/>
    <p:sldId id="347" r:id="rId32"/>
    <p:sldId id="342" r:id="rId33"/>
    <p:sldId id="336" r:id="rId34"/>
    <p:sldId id="329" r:id="rId35"/>
    <p:sldId id="330" r:id="rId36"/>
    <p:sldId id="331" r:id="rId37"/>
    <p:sldId id="332" r:id="rId38"/>
    <p:sldId id="333" r:id="rId39"/>
    <p:sldId id="325" r:id="rId40"/>
    <p:sldId id="314" r:id="rId4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C40000"/>
    <a:srgbClr val="C6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98DAC-4A3F-2941-DF97-A15DA3E25A32}" v="57" dt="2026-04-08T17:09:20.398"/>
    <p1510:client id="{BADF4425-2E69-4039-99BC-0BF452573A2A}" v="568" dt="2026-04-08T17:13:05.484"/>
    <p1510:client id="{FA077268-8FE8-4AB5-8A87-05C9CDEC9817}" v="10" dt="2026-04-08T01:06:31.7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77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442EA2-39BA-4C9A-AD59-755D4917D532}" type="doc">
      <dgm:prSet loTypeId="urn:microsoft.com/office/officeart/2005/8/layout/hList1" loCatId="list" qsTypeId="urn:microsoft.com/office/officeart/2005/8/quickstyle/3d4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DF9FE7B-F642-4898-A360-D4E3814E1A3D}">
      <dgm:prSet phldrT="[Text]" custT="1"/>
      <dgm:spPr/>
      <dgm:t>
        <a:bodyPr anchor="ctr"/>
        <a:lstStyle/>
        <a:p>
          <a:pPr algn="ctr"/>
          <a:r>
            <a:rPr lang="en-US" sz="1600" b="1" i="0">
              <a:latin typeface="+mn-lt"/>
              <a:cs typeface="Gill Sans" panose="020B0502020104020203" pitchFamily="34" charset="-79"/>
            </a:rPr>
            <a:t>1-Hisham</a:t>
          </a:r>
        </a:p>
      </dgm:t>
    </dgm:pt>
    <dgm:pt modelId="{1C10F06D-860A-4604-A7AD-02E614FE3976}" type="parTrans" cxnId="{EBD8BE8D-6018-43E2-B081-034BB5656EB6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3C18EFF-81FC-4D70-8C6B-E95FF3730413}" type="sibTrans" cxnId="{EBD8BE8D-6018-43E2-B081-034BB5656EB6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3929B1E1-4BC4-4C73-ABE8-27CEF96A3652}">
      <dgm:prSet phldrT="[Text]" custT="1"/>
      <dgm:spPr/>
      <dgm:t>
        <a:bodyPr anchor="ctr"/>
        <a:lstStyle/>
        <a:p>
          <a:pPr algn="ctr"/>
          <a:r>
            <a:rPr lang="en-US" sz="1600" b="1" i="0">
              <a:latin typeface="+mn-lt"/>
              <a:cs typeface="Gill Sans" panose="020B0502020104020203" pitchFamily="34" charset="-79"/>
            </a:rPr>
            <a:t>2-Rayan</a:t>
          </a:r>
        </a:p>
      </dgm:t>
    </dgm:pt>
    <dgm:pt modelId="{F356CC76-9117-4B79-A270-BBBAFD3E9C79}" type="parTrans" cxnId="{1339090C-9A95-4C05-841C-FA3AF987601B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19BA0C22-38BB-4E9F-89D5-0FF5FF9F12CE}" type="sibTrans" cxnId="{1339090C-9A95-4C05-841C-FA3AF987601B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99E0600D-9954-43F4-8926-13B8777FAAA1}">
      <dgm:prSet phldrT="[Text]" custT="1"/>
      <dgm:spPr/>
      <dgm:t>
        <a:bodyPr lIns="274320" tIns="182880" rIns="109728"/>
        <a:lstStyle/>
        <a:p>
          <a:r>
            <a:rPr lang="en-US" sz="1800" b="1" i="0">
              <a:latin typeface="+mn-lt"/>
              <a:cs typeface="Gill Sans" panose="020B0502020104020203" pitchFamily="34" charset="-79"/>
            </a:rPr>
            <a:t>Humanitarian Impact Analysis</a:t>
          </a:r>
        </a:p>
      </dgm:t>
    </dgm:pt>
    <dgm:pt modelId="{BE23F476-2C5C-42ED-BF2B-CD5FC7ADDDF6}" type="parTrans" cxnId="{09FCCB9D-A30A-4326-970E-26252D39327F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C44937DC-4907-4769-AA8B-1B3E7391D7B0}" type="sibTrans" cxnId="{09FCCB9D-A30A-4326-970E-26252D39327F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0CDF8D0-D4FC-4467-A51E-79C5A58B0B2C}">
      <dgm:prSet phldrT="[Text]" custT="1"/>
      <dgm:spPr/>
      <dgm:t>
        <a:bodyPr anchor="ctr"/>
        <a:lstStyle/>
        <a:p>
          <a:pPr algn="ctr"/>
          <a:r>
            <a:rPr lang="en-US" sz="1600" b="1" i="0">
              <a:latin typeface="+mn-lt"/>
              <a:cs typeface="Gill Sans" panose="020B0502020104020203" pitchFamily="34" charset="-79"/>
            </a:rPr>
            <a:t>3-Youssra</a:t>
          </a:r>
        </a:p>
      </dgm:t>
    </dgm:pt>
    <dgm:pt modelId="{E12A269F-AB82-486A-9077-80F2BBBE48C2}" type="parTrans" cxnId="{2BA65DEC-E719-4ED3-8135-48349D42DD04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3F7FD59D-A716-4310-A89A-AB6F740D9FFF}" type="sibTrans" cxnId="{2BA65DEC-E719-4ED3-8135-48349D42DD04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50629C12-7464-4473-ADEF-1A284F8A9957}">
      <dgm:prSet phldrT="[Text]" custT="1"/>
      <dgm:spPr/>
      <dgm:t>
        <a:bodyPr lIns="274320" tIns="182880"/>
        <a:lstStyle/>
        <a:p>
          <a:r>
            <a:rPr lang="en-US" sz="1800" b="1" i="0" dirty="0">
              <a:latin typeface="+mn-lt"/>
              <a:cs typeface="Gill Sans" panose="020B0502020104020203" pitchFamily="34" charset="-79"/>
            </a:rPr>
            <a:t> Conflict Parties and Actor Analysis</a:t>
          </a:r>
        </a:p>
      </dgm:t>
    </dgm:pt>
    <dgm:pt modelId="{9D1CB46C-0CFA-4B27-9224-267431FBD094}" type="parTrans" cxnId="{1D32FCC9-657C-4348-9C0D-52115D559FEB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576BCC5-0598-4332-A2E7-87AC3ADD4EB8}" type="sibTrans" cxnId="{1D32FCC9-657C-4348-9C0D-52115D559FEB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EFF2750D-B4B3-474C-8B62-8B638DC31F7E}">
      <dgm:prSet phldrT="[Text]" custT="1"/>
      <dgm:spPr/>
      <dgm:t>
        <a:bodyPr lIns="274320" tIns="182880"/>
        <a:lstStyle/>
        <a:p>
          <a:r>
            <a:rPr lang="en-US" sz="1800" b="1" i="0">
              <a:latin typeface="+mn-lt"/>
              <a:cs typeface="Gill Sans" panose="020B0502020104020203" pitchFamily="34" charset="-79"/>
            </a:rPr>
            <a:t>Economic Impact Analysis</a:t>
          </a:r>
        </a:p>
      </dgm:t>
    </dgm:pt>
    <dgm:pt modelId="{AEBC78E6-CDDC-4C8F-A157-3C51E907FACD}" type="parTrans" cxnId="{DE0B1E9E-8280-4A90-9939-A1FB361AC778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75C067D7-FCD2-4969-8F27-4BBDA88E75ED}" type="sibTrans" cxnId="{DE0B1E9E-8280-4A90-9939-A1FB361AC778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01764284-129B-4C56-AAA4-DADFC20A8B7B}">
      <dgm:prSet phldrT="[Text]" custT="1"/>
      <dgm:spPr/>
      <dgm:t>
        <a:bodyPr anchor="ctr"/>
        <a:lstStyle/>
        <a:p>
          <a:pPr algn="ctr"/>
          <a:r>
            <a:rPr lang="en-US" sz="1600" b="1" i="0">
              <a:latin typeface="+mn-lt"/>
              <a:cs typeface="Gill Sans" panose="020B0502020104020203" pitchFamily="34" charset="-79"/>
            </a:rPr>
            <a:t>4-Hala</a:t>
          </a:r>
        </a:p>
      </dgm:t>
    </dgm:pt>
    <dgm:pt modelId="{D03F732C-A312-400A-B836-2E6A0CB16FEA}" type="parTrans" cxnId="{9704F0C7-1FEA-43D8-9434-55BA81AA83DB}">
      <dgm:prSet/>
      <dgm:spPr/>
      <dgm:t>
        <a:bodyPr/>
        <a:lstStyle/>
        <a:p>
          <a:endParaRPr lang="en-CA"/>
        </a:p>
      </dgm:t>
    </dgm:pt>
    <dgm:pt modelId="{C3B29072-8C19-4697-B678-F093D0DD78FD}" type="sibTrans" cxnId="{9704F0C7-1FEA-43D8-9434-55BA81AA83DB}">
      <dgm:prSet/>
      <dgm:spPr/>
      <dgm:t>
        <a:bodyPr/>
        <a:lstStyle/>
        <a:p>
          <a:endParaRPr lang="en-CA"/>
        </a:p>
      </dgm:t>
    </dgm:pt>
    <dgm:pt modelId="{611BBD92-1AD5-443B-8CE7-FBCB2B997C4B}">
      <dgm:prSet phldrT="[Text]" custT="1"/>
      <dgm:spPr/>
      <dgm:t>
        <a:bodyPr anchor="ctr"/>
        <a:lstStyle/>
        <a:p>
          <a:pPr algn="ctr"/>
          <a:r>
            <a:rPr lang="en-US" sz="1600" b="1" i="0">
              <a:latin typeface="+mn-lt"/>
              <a:cs typeface="Gill Sans" panose="020B0502020104020203" pitchFamily="34" charset="-79"/>
            </a:rPr>
            <a:t>5-Joseph</a:t>
          </a:r>
        </a:p>
      </dgm:t>
    </dgm:pt>
    <dgm:pt modelId="{D023B5BA-E638-44AB-BE4E-E4EB78A0E5FA}" type="parTrans" cxnId="{F35D1092-9409-4634-8788-BD2105BA4BA0}">
      <dgm:prSet/>
      <dgm:spPr/>
      <dgm:t>
        <a:bodyPr/>
        <a:lstStyle/>
        <a:p>
          <a:endParaRPr lang="en-CA"/>
        </a:p>
      </dgm:t>
    </dgm:pt>
    <dgm:pt modelId="{D5E5D6EB-D0EB-4B20-A8F9-38DE7316D830}" type="sibTrans" cxnId="{F35D1092-9409-4634-8788-BD2105BA4BA0}">
      <dgm:prSet/>
      <dgm:spPr/>
      <dgm:t>
        <a:bodyPr/>
        <a:lstStyle/>
        <a:p>
          <a:endParaRPr lang="en-CA"/>
        </a:p>
      </dgm:t>
    </dgm:pt>
    <dgm:pt modelId="{5F309EF8-04E5-4033-BB3A-B0BB672B6B38}">
      <dgm:prSet custT="1"/>
      <dgm:spPr/>
      <dgm:t>
        <a:bodyPr/>
        <a:lstStyle/>
        <a:p>
          <a:r>
            <a:rPr lang="en-CA" sz="1800" b="1"/>
            <a:t>Infrastructure Damage Analysis</a:t>
          </a:r>
        </a:p>
      </dgm:t>
    </dgm:pt>
    <dgm:pt modelId="{14CD2A98-F68B-49D9-9441-0E333416DB86}" type="parTrans" cxnId="{EEC02FED-175B-4C6B-8EAD-004BDD120875}">
      <dgm:prSet/>
      <dgm:spPr/>
      <dgm:t>
        <a:bodyPr/>
        <a:lstStyle/>
        <a:p>
          <a:endParaRPr lang="en-CA"/>
        </a:p>
      </dgm:t>
    </dgm:pt>
    <dgm:pt modelId="{07FEA83A-0344-4B08-A6DE-1E2620DBC5C7}" type="sibTrans" cxnId="{EEC02FED-175B-4C6B-8EAD-004BDD120875}">
      <dgm:prSet/>
      <dgm:spPr/>
      <dgm:t>
        <a:bodyPr/>
        <a:lstStyle/>
        <a:p>
          <a:endParaRPr lang="en-CA"/>
        </a:p>
      </dgm:t>
    </dgm:pt>
    <dgm:pt modelId="{B841E0FF-0D71-4359-8173-358281A365AB}">
      <dgm:prSet/>
      <dgm:spPr/>
      <dgm:t>
        <a:bodyPr/>
        <a:lstStyle/>
        <a:p>
          <a:r>
            <a:rPr lang="en-CA" b="1"/>
            <a:t>International Response and Aid Analysis</a:t>
          </a:r>
        </a:p>
      </dgm:t>
    </dgm:pt>
    <dgm:pt modelId="{F8D9CE1E-4C80-487B-B9CE-3418C809109E}" type="parTrans" cxnId="{F06D897D-B8AF-45C3-95A8-F000277462EC}">
      <dgm:prSet/>
      <dgm:spPr/>
      <dgm:t>
        <a:bodyPr/>
        <a:lstStyle/>
        <a:p>
          <a:endParaRPr lang="en-CA"/>
        </a:p>
      </dgm:t>
    </dgm:pt>
    <dgm:pt modelId="{9653A929-502F-40F0-8761-8C0E1B43FC91}" type="sibTrans" cxnId="{F06D897D-B8AF-45C3-95A8-F000277462EC}">
      <dgm:prSet/>
      <dgm:spPr/>
      <dgm:t>
        <a:bodyPr/>
        <a:lstStyle/>
        <a:p>
          <a:endParaRPr lang="en-CA"/>
        </a:p>
      </dgm:t>
    </dgm:pt>
    <dgm:pt modelId="{6DC956E0-ABF9-B04F-88A2-AF2DA3B4042A}" type="pres">
      <dgm:prSet presAssocID="{3F442EA2-39BA-4C9A-AD59-755D4917D532}" presName="Name0" presStyleCnt="0">
        <dgm:presLayoutVars>
          <dgm:dir/>
          <dgm:animLvl val="lvl"/>
          <dgm:resizeHandles val="exact"/>
        </dgm:presLayoutVars>
      </dgm:prSet>
      <dgm:spPr/>
    </dgm:pt>
    <dgm:pt modelId="{0E86B7EA-718C-7A4B-9F83-8B559CA2CCFC}" type="pres">
      <dgm:prSet presAssocID="{4DF9FE7B-F642-4898-A360-D4E3814E1A3D}" presName="composite" presStyleCnt="0"/>
      <dgm:spPr/>
    </dgm:pt>
    <dgm:pt modelId="{7ECB33B2-11BD-FE4E-BC72-96AD9624B8DF}" type="pres">
      <dgm:prSet presAssocID="{4DF9FE7B-F642-4898-A360-D4E3814E1A3D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4FFCB3E4-DC7C-E74E-B4C4-3D359AC4596E}" type="pres">
      <dgm:prSet presAssocID="{4DF9FE7B-F642-4898-A360-D4E3814E1A3D}" presName="desTx" presStyleLbl="alignAccFollowNode1" presStyleIdx="0" presStyleCnt="5">
        <dgm:presLayoutVars>
          <dgm:bulletEnabled val="1"/>
        </dgm:presLayoutVars>
      </dgm:prSet>
      <dgm:spPr/>
    </dgm:pt>
    <dgm:pt modelId="{84D46925-5E02-0446-B7CF-6E0ED783F04A}" type="pres">
      <dgm:prSet presAssocID="{43C18EFF-81FC-4D70-8C6B-E95FF3730413}" presName="space" presStyleCnt="0"/>
      <dgm:spPr/>
    </dgm:pt>
    <dgm:pt modelId="{78EDBB5C-D892-B44F-8F90-23A3131F62FA}" type="pres">
      <dgm:prSet presAssocID="{3929B1E1-4BC4-4C73-ABE8-27CEF96A3652}" presName="composite" presStyleCnt="0"/>
      <dgm:spPr/>
    </dgm:pt>
    <dgm:pt modelId="{629FAB9D-46AA-9041-A6CD-FF5C6411D00B}" type="pres">
      <dgm:prSet presAssocID="{3929B1E1-4BC4-4C73-ABE8-27CEF96A3652}" presName="parTx" presStyleLbl="alignNode1" presStyleIdx="1" presStyleCnt="5" custScaleY="95250" custLinFactNeighborX="-1389" custLinFactNeighborY="4705">
        <dgm:presLayoutVars>
          <dgm:chMax val="0"/>
          <dgm:chPref val="0"/>
          <dgm:bulletEnabled val="1"/>
        </dgm:presLayoutVars>
      </dgm:prSet>
      <dgm:spPr/>
    </dgm:pt>
    <dgm:pt modelId="{825D28D2-D033-2248-B401-865A75A3B565}" type="pres">
      <dgm:prSet presAssocID="{3929B1E1-4BC4-4C73-ABE8-27CEF96A3652}" presName="desTx" presStyleLbl="alignAccFollowNode1" presStyleIdx="1" presStyleCnt="5" custLinFactNeighborX="-1196" custLinFactNeighborY="247">
        <dgm:presLayoutVars>
          <dgm:bulletEnabled val="1"/>
        </dgm:presLayoutVars>
      </dgm:prSet>
      <dgm:spPr/>
    </dgm:pt>
    <dgm:pt modelId="{ED35ABF0-A06C-2548-8673-E510C0F6AB5D}" type="pres">
      <dgm:prSet presAssocID="{19BA0C22-38BB-4E9F-89D5-0FF5FF9F12CE}" presName="space" presStyleCnt="0"/>
      <dgm:spPr/>
    </dgm:pt>
    <dgm:pt modelId="{81A36D5A-FE47-E742-8BD1-4C227EB4127B}" type="pres">
      <dgm:prSet presAssocID="{60CDF8D0-D4FC-4467-A51E-79C5A58B0B2C}" presName="composite" presStyleCnt="0"/>
      <dgm:spPr/>
    </dgm:pt>
    <dgm:pt modelId="{84C8FA96-FEB8-7540-BC88-1D54E3196400}" type="pres">
      <dgm:prSet presAssocID="{60CDF8D0-D4FC-4467-A51E-79C5A58B0B2C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2A4D95D0-1702-3F46-BD02-49B126DE6B57}" type="pres">
      <dgm:prSet presAssocID="{60CDF8D0-D4FC-4467-A51E-79C5A58B0B2C}" presName="desTx" presStyleLbl="alignAccFollowNode1" presStyleIdx="2" presStyleCnt="5">
        <dgm:presLayoutVars>
          <dgm:bulletEnabled val="1"/>
        </dgm:presLayoutVars>
      </dgm:prSet>
      <dgm:spPr/>
    </dgm:pt>
    <dgm:pt modelId="{FDEEA258-C586-4362-9D70-B00CF981CC75}" type="pres">
      <dgm:prSet presAssocID="{3F7FD59D-A716-4310-A89A-AB6F740D9FFF}" presName="space" presStyleCnt="0"/>
      <dgm:spPr/>
    </dgm:pt>
    <dgm:pt modelId="{4FA09B7D-8076-4CF1-997B-1B276C817452}" type="pres">
      <dgm:prSet presAssocID="{01764284-129B-4C56-AAA4-DADFC20A8B7B}" presName="composite" presStyleCnt="0"/>
      <dgm:spPr/>
    </dgm:pt>
    <dgm:pt modelId="{F1FBA5DE-3E36-423C-83B4-D8B39F4321F8}" type="pres">
      <dgm:prSet presAssocID="{01764284-129B-4C56-AAA4-DADFC20A8B7B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4D52AF3E-C7D5-4214-9733-923FAB097C56}" type="pres">
      <dgm:prSet presAssocID="{01764284-129B-4C56-AAA4-DADFC20A8B7B}" presName="desTx" presStyleLbl="alignAccFollowNode1" presStyleIdx="3" presStyleCnt="5">
        <dgm:presLayoutVars>
          <dgm:bulletEnabled val="1"/>
        </dgm:presLayoutVars>
      </dgm:prSet>
      <dgm:spPr/>
    </dgm:pt>
    <dgm:pt modelId="{D6E84FC3-04F4-4699-9393-FB9F3A6411B8}" type="pres">
      <dgm:prSet presAssocID="{C3B29072-8C19-4697-B678-F093D0DD78FD}" presName="space" presStyleCnt="0"/>
      <dgm:spPr/>
    </dgm:pt>
    <dgm:pt modelId="{CFFF3311-B0CF-488D-98BD-63808A898134}" type="pres">
      <dgm:prSet presAssocID="{611BBD92-1AD5-443B-8CE7-FBCB2B997C4B}" presName="composite" presStyleCnt="0"/>
      <dgm:spPr/>
    </dgm:pt>
    <dgm:pt modelId="{300713F0-1B42-44D4-854F-AB1D826B5CF4}" type="pres">
      <dgm:prSet presAssocID="{611BBD92-1AD5-443B-8CE7-FBCB2B997C4B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07B93F4E-5883-4A48-9B97-CB033B9C8CB5}" type="pres">
      <dgm:prSet presAssocID="{611BBD92-1AD5-443B-8CE7-FBCB2B997C4B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1339090C-9A95-4C05-841C-FA3AF987601B}" srcId="{3F442EA2-39BA-4C9A-AD59-755D4917D532}" destId="{3929B1E1-4BC4-4C73-ABE8-27CEF96A3652}" srcOrd="1" destOrd="0" parTransId="{F356CC76-9117-4B79-A270-BBBAFD3E9C79}" sibTransId="{19BA0C22-38BB-4E9F-89D5-0FF5FF9F12CE}"/>
    <dgm:cxn modelId="{01A5A723-4960-4130-8F11-BC2AD40080C3}" type="presOf" srcId="{3929B1E1-4BC4-4C73-ABE8-27CEF96A3652}" destId="{629FAB9D-46AA-9041-A6CD-FF5C6411D00B}" srcOrd="0" destOrd="0" presId="urn:microsoft.com/office/officeart/2005/8/layout/hList1"/>
    <dgm:cxn modelId="{A2EE762E-2000-4F25-B670-D26BB6ECA9FB}" type="presOf" srcId="{B841E0FF-0D71-4359-8173-358281A365AB}" destId="{4D52AF3E-C7D5-4214-9733-923FAB097C56}" srcOrd="0" destOrd="0" presId="urn:microsoft.com/office/officeart/2005/8/layout/hList1"/>
    <dgm:cxn modelId="{F40E3E39-A5CA-475E-80CB-CFB92C715D80}" type="presOf" srcId="{50629C12-7464-4473-ADEF-1A284F8A9957}" destId="{07B93F4E-5883-4A48-9B97-CB033B9C8CB5}" srcOrd="0" destOrd="0" presId="urn:microsoft.com/office/officeart/2005/8/layout/hList1"/>
    <dgm:cxn modelId="{7E0E3B40-A7E3-CA4C-BF7E-16D73836F477}" type="presOf" srcId="{3F442EA2-39BA-4C9A-AD59-755D4917D532}" destId="{6DC956E0-ABF9-B04F-88A2-AF2DA3B4042A}" srcOrd="0" destOrd="0" presId="urn:microsoft.com/office/officeart/2005/8/layout/hList1"/>
    <dgm:cxn modelId="{6F1BAA5F-A160-4B4E-9FF7-4E476CCDBF47}" type="presOf" srcId="{4DF9FE7B-F642-4898-A360-D4E3814E1A3D}" destId="{7ECB33B2-11BD-FE4E-BC72-96AD9624B8DF}" srcOrd="0" destOrd="0" presId="urn:microsoft.com/office/officeart/2005/8/layout/hList1"/>
    <dgm:cxn modelId="{0C7FE242-8D55-4C9E-8BCB-71CECBB23F13}" type="presOf" srcId="{611BBD92-1AD5-443B-8CE7-FBCB2B997C4B}" destId="{300713F0-1B42-44D4-854F-AB1D826B5CF4}" srcOrd="0" destOrd="0" presId="urn:microsoft.com/office/officeart/2005/8/layout/hList1"/>
    <dgm:cxn modelId="{F06D897D-B8AF-45C3-95A8-F000277462EC}" srcId="{01764284-129B-4C56-AAA4-DADFC20A8B7B}" destId="{B841E0FF-0D71-4359-8173-358281A365AB}" srcOrd="0" destOrd="0" parTransId="{F8D9CE1E-4C80-487B-B9CE-3418C809109E}" sibTransId="{9653A929-502F-40F0-8761-8C0E1B43FC91}"/>
    <dgm:cxn modelId="{EBD8BE8D-6018-43E2-B081-034BB5656EB6}" srcId="{3F442EA2-39BA-4C9A-AD59-755D4917D532}" destId="{4DF9FE7B-F642-4898-A360-D4E3814E1A3D}" srcOrd="0" destOrd="0" parTransId="{1C10F06D-860A-4604-A7AD-02E614FE3976}" sibTransId="{43C18EFF-81FC-4D70-8C6B-E95FF3730413}"/>
    <dgm:cxn modelId="{E3701491-E253-492B-981F-AA5F27855B96}" type="presOf" srcId="{5F309EF8-04E5-4033-BB3A-B0BB672B6B38}" destId="{2A4D95D0-1702-3F46-BD02-49B126DE6B57}" srcOrd="0" destOrd="0" presId="urn:microsoft.com/office/officeart/2005/8/layout/hList1"/>
    <dgm:cxn modelId="{F35D1092-9409-4634-8788-BD2105BA4BA0}" srcId="{3F442EA2-39BA-4C9A-AD59-755D4917D532}" destId="{611BBD92-1AD5-443B-8CE7-FBCB2B997C4B}" srcOrd="4" destOrd="0" parTransId="{D023B5BA-E638-44AB-BE4E-E4EB78A0E5FA}" sibTransId="{D5E5D6EB-D0EB-4B20-A8F9-38DE7316D830}"/>
    <dgm:cxn modelId="{F6A4DF92-9D0C-4D3B-9167-B66537D46338}" type="presOf" srcId="{60CDF8D0-D4FC-4467-A51E-79C5A58B0B2C}" destId="{84C8FA96-FEB8-7540-BC88-1D54E3196400}" srcOrd="0" destOrd="0" presId="urn:microsoft.com/office/officeart/2005/8/layout/hList1"/>
    <dgm:cxn modelId="{09FCCB9D-A30A-4326-970E-26252D39327F}" srcId="{3929B1E1-4BC4-4C73-ABE8-27CEF96A3652}" destId="{99E0600D-9954-43F4-8926-13B8777FAAA1}" srcOrd="0" destOrd="0" parTransId="{BE23F476-2C5C-42ED-BF2B-CD5FC7ADDDF6}" sibTransId="{C44937DC-4907-4769-AA8B-1B3E7391D7B0}"/>
    <dgm:cxn modelId="{DE0B1E9E-8280-4A90-9939-A1FB361AC778}" srcId="{4DF9FE7B-F642-4898-A360-D4E3814E1A3D}" destId="{EFF2750D-B4B3-474C-8B62-8B638DC31F7E}" srcOrd="0" destOrd="0" parTransId="{AEBC78E6-CDDC-4C8F-A157-3C51E907FACD}" sibTransId="{75C067D7-FCD2-4969-8F27-4BBDA88E75ED}"/>
    <dgm:cxn modelId="{C6776FA6-AAD6-42DF-AAC5-0A656A4E340A}" type="presOf" srcId="{01764284-129B-4C56-AAA4-DADFC20A8B7B}" destId="{F1FBA5DE-3E36-423C-83B4-D8B39F4321F8}" srcOrd="0" destOrd="0" presId="urn:microsoft.com/office/officeart/2005/8/layout/hList1"/>
    <dgm:cxn modelId="{22A00BC3-1C82-4E66-8B93-B867C16B561E}" type="presOf" srcId="{EFF2750D-B4B3-474C-8B62-8B638DC31F7E}" destId="{4FFCB3E4-DC7C-E74E-B4C4-3D359AC4596E}" srcOrd="0" destOrd="0" presId="urn:microsoft.com/office/officeart/2005/8/layout/hList1"/>
    <dgm:cxn modelId="{9704F0C7-1FEA-43D8-9434-55BA81AA83DB}" srcId="{3F442EA2-39BA-4C9A-AD59-755D4917D532}" destId="{01764284-129B-4C56-AAA4-DADFC20A8B7B}" srcOrd="3" destOrd="0" parTransId="{D03F732C-A312-400A-B836-2E6A0CB16FEA}" sibTransId="{C3B29072-8C19-4697-B678-F093D0DD78FD}"/>
    <dgm:cxn modelId="{1D32FCC9-657C-4348-9C0D-52115D559FEB}" srcId="{611BBD92-1AD5-443B-8CE7-FBCB2B997C4B}" destId="{50629C12-7464-4473-ADEF-1A284F8A9957}" srcOrd="0" destOrd="0" parTransId="{9D1CB46C-0CFA-4B27-9224-267431FBD094}" sibTransId="{4576BCC5-0598-4332-A2E7-87AC3ADD4EB8}"/>
    <dgm:cxn modelId="{47831AE7-4BDA-4C5F-ABC0-B0B8FDECF81B}" type="presOf" srcId="{99E0600D-9954-43F4-8926-13B8777FAAA1}" destId="{825D28D2-D033-2248-B401-865A75A3B565}" srcOrd="0" destOrd="0" presId="urn:microsoft.com/office/officeart/2005/8/layout/hList1"/>
    <dgm:cxn modelId="{2BA65DEC-E719-4ED3-8135-48349D42DD04}" srcId="{3F442EA2-39BA-4C9A-AD59-755D4917D532}" destId="{60CDF8D0-D4FC-4467-A51E-79C5A58B0B2C}" srcOrd="2" destOrd="0" parTransId="{E12A269F-AB82-486A-9077-80F2BBBE48C2}" sibTransId="{3F7FD59D-A716-4310-A89A-AB6F740D9FFF}"/>
    <dgm:cxn modelId="{EEC02FED-175B-4C6B-8EAD-004BDD120875}" srcId="{60CDF8D0-D4FC-4467-A51E-79C5A58B0B2C}" destId="{5F309EF8-04E5-4033-BB3A-B0BB672B6B38}" srcOrd="0" destOrd="0" parTransId="{14CD2A98-F68B-49D9-9441-0E333416DB86}" sibTransId="{07FEA83A-0344-4B08-A6DE-1E2620DBC5C7}"/>
    <dgm:cxn modelId="{4B31AFF2-8232-464E-B6AD-5D2AA63A5975}" type="presParOf" srcId="{6DC956E0-ABF9-B04F-88A2-AF2DA3B4042A}" destId="{0E86B7EA-718C-7A4B-9F83-8B559CA2CCFC}" srcOrd="0" destOrd="0" presId="urn:microsoft.com/office/officeart/2005/8/layout/hList1"/>
    <dgm:cxn modelId="{598CA2B0-073D-442F-81B7-0D8DC16E9DF8}" type="presParOf" srcId="{0E86B7EA-718C-7A4B-9F83-8B559CA2CCFC}" destId="{7ECB33B2-11BD-FE4E-BC72-96AD9624B8DF}" srcOrd="0" destOrd="0" presId="urn:microsoft.com/office/officeart/2005/8/layout/hList1"/>
    <dgm:cxn modelId="{D6C24E6C-B76B-4F96-A421-C63A1F021C12}" type="presParOf" srcId="{0E86B7EA-718C-7A4B-9F83-8B559CA2CCFC}" destId="{4FFCB3E4-DC7C-E74E-B4C4-3D359AC4596E}" srcOrd="1" destOrd="0" presId="urn:microsoft.com/office/officeart/2005/8/layout/hList1"/>
    <dgm:cxn modelId="{B6B5870A-3B4C-4004-8888-43A9BE2EEF25}" type="presParOf" srcId="{6DC956E0-ABF9-B04F-88A2-AF2DA3B4042A}" destId="{84D46925-5E02-0446-B7CF-6E0ED783F04A}" srcOrd="1" destOrd="0" presId="urn:microsoft.com/office/officeart/2005/8/layout/hList1"/>
    <dgm:cxn modelId="{76F70B6D-E60F-43D1-BFD5-1455E80280EF}" type="presParOf" srcId="{6DC956E0-ABF9-B04F-88A2-AF2DA3B4042A}" destId="{78EDBB5C-D892-B44F-8F90-23A3131F62FA}" srcOrd="2" destOrd="0" presId="urn:microsoft.com/office/officeart/2005/8/layout/hList1"/>
    <dgm:cxn modelId="{92653C0C-6420-495D-999C-0C8C916B97ED}" type="presParOf" srcId="{78EDBB5C-D892-B44F-8F90-23A3131F62FA}" destId="{629FAB9D-46AA-9041-A6CD-FF5C6411D00B}" srcOrd="0" destOrd="0" presId="urn:microsoft.com/office/officeart/2005/8/layout/hList1"/>
    <dgm:cxn modelId="{6D68023C-BB2E-4878-B9E5-CF7FB4120F4E}" type="presParOf" srcId="{78EDBB5C-D892-B44F-8F90-23A3131F62FA}" destId="{825D28D2-D033-2248-B401-865A75A3B565}" srcOrd="1" destOrd="0" presId="urn:microsoft.com/office/officeart/2005/8/layout/hList1"/>
    <dgm:cxn modelId="{6E9CA04C-E957-4BE9-B4BB-DE703BC290DE}" type="presParOf" srcId="{6DC956E0-ABF9-B04F-88A2-AF2DA3B4042A}" destId="{ED35ABF0-A06C-2548-8673-E510C0F6AB5D}" srcOrd="3" destOrd="0" presId="urn:microsoft.com/office/officeart/2005/8/layout/hList1"/>
    <dgm:cxn modelId="{1B6AFC94-33AF-4B4E-8ED5-3037B3AA8CE8}" type="presParOf" srcId="{6DC956E0-ABF9-B04F-88A2-AF2DA3B4042A}" destId="{81A36D5A-FE47-E742-8BD1-4C227EB4127B}" srcOrd="4" destOrd="0" presId="urn:microsoft.com/office/officeart/2005/8/layout/hList1"/>
    <dgm:cxn modelId="{701A2B79-51C0-4B83-912E-BDC7E4171062}" type="presParOf" srcId="{81A36D5A-FE47-E742-8BD1-4C227EB4127B}" destId="{84C8FA96-FEB8-7540-BC88-1D54E3196400}" srcOrd="0" destOrd="0" presId="urn:microsoft.com/office/officeart/2005/8/layout/hList1"/>
    <dgm:cxn modelId="{D9DF33F9-2DD0-4AB5-8F14-15AE0AF1D1CB}" type="presParOf" srcId="{81A36D5A-FE47-E742-8BD1-4C227EB4127B}" destId="{2A4D95D0-1702-3F46-BD02-49B126DE6B57}" srcOrd="1" destOrd="0" presId="urn:microsoft.com/office/officeart/2005/8/layout/hList1"/>
    <dgm:cxn modelId="{BB323445-7ADE-4BAA-AC8B-8B97DEE74401}" type="presParOf" srcId="{6DC956E0-ABF9-B04F-88A2-AF2DA3B4042A}" destId="{FDEEA258-C586-4362-9D70-B00CF981CC75}" srcOrd="5" destOrd="0" presId="urn:microsoft.com/office/officeart/2005/8/layout/hList1"/>
    <dgm:cxn modelId="{466948B4-372D-44DE-87B6-F82AF8EB29A4}" type="presParOf" srcId="{6DC956E0-ABF9-B04F-88A2-AF2DA3B4042A}" destId="{4FA09B7D-8076-4CF1-997B-1B276C817452}" srcOrd="6" destOrd="0" presId="urn:microsoft.com/office/officeart/2005/8/layout/hList1"/>
    <dgm:cxn modelId="{BD494116-35DF-4D0E-8373-025C92ECF50A}" type="presParOf" srcId="{4FA09B7D-8076-4CF1-997B-1B276C817452}" destId="{F1FBA5DE-3E36-423C-83B4-D8B39F4321F8}" srcOrd="0" destOrd="0" presId="urn:microsoft.com/office/officeart/2005/8/layout/hList1"/>
    <dgm:cxn modelId="{1E00BE33-D7CE-4BB5-90C5-79555CF80926}" type="presParOf" srcId="{4FA09B7D-8076-4CF1-997B-1B276C817452}" destId="{4D52AF3E-C7D5-4214-9733-923FAB097C56}" srcOrd="1" destOrd="0" presId="urn:microsoft.com/office/officeart/2005/8/layout/hList1"/>
    <dgm:cxn modelId="{A132E7A8-2CBC-4B97-808E-9C1620B0A387}" type="presParOf" srcId="{6DC956E0-ABF9-B04F-88A2-AF2DA3B4042A}" destId="{D6E84FC3-04F4-4699-9393-FB9F3A6411B8}" srcOrd="7" destOrd="0" presId="urn:microsoft.com/office/officeart/2005/8/layout/hList1"/>
    <dgm:cxn modelId="{2775DE40-5BD6-46C0-96CD-B434BCA01DAC}" type="presParOf" srcId="{6DC956E0-ABF9-B04F-88A2-AF2DA3B4042A}" destId="{CFFF3311-B0CF-488D-98BD-63808A898134}" srcOrd="8" destOrd="0" presId="urn:microsoft.com/office/officeart/2005/8/layout/hList1"/>
    <dgm:cxn modelId="{68560505-5B14-474D-A29A-6FD35FFA9990}" type="presParOf" srcId="{CFFF3311-B0CF-488D-98BD-63808A898134}" destId="{300713F0-1B42-44D4-854F-AB1D826B5CF4}" srcOrd="0" destOrd="0" presId="urn:microsoft.com/office/officeart/2005/8/layout/hList1"/>
    <dgm:cxn modelId="{B70F6F7A-7FE5-497B-AFD6-242D39F0E2F9}" type="presParOf" srcId="{CFFF3311-B0CF-488D-98BD-63808A898134}" destId="{07B93F4E-5883-4A48-9B97-CB033B9C8CB5}" srcOrd="1" destOrd="0" presId="urn:microsoft.com/office/officeart/2005/8/layout/hList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CB33B2-11BD-FE4E-BC72-96AD9624B8DF}">
      <dsp:nvSpPr>
        <dsp:cNvPr id="0" name=""/>
        <dsp:cNvSpPr/>
      </dsp:nvSpPr>
      <dsp:spPr>
        <a:xfrm>
          <a:off x="5347" y="726216"/>
          <a:ext cx="2050021" cy="5760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>
              <a:latin typeface="+mn-lt"/>
              <a:cs typeface="Gill Sans" panose="020B0502020104020203" pitchFamily="34" charset="-79"/>
            </a:rPr>
            <a:t>1-Hisham</a:t>
          </a:r>
        </a:p>
      </dsp:txBody>
      <dsp:txXfrm>
        <a:off x="5347" y="726216"/>
        <a:ext cx="2050021" cy="576000"/>
      </dsp:txXfrm>
    </dsp:sp>
    <dsp:sp modelId="{4FFCB3E4-DC7C-E74E-B4C4-3D359AC4596E}">
      <dsp:nvSpPr>
        <dsp:cNvPr id="0" name=""/>
        <dsp:cNvSpPr/>
      </dsp:nvSpPr>
      <dsp:spPr>
        <a:xfrm>
          <a:off x="5347" y="1302216"/>
          <a:ext cx="2050021" cy="133647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4320" tIns="182880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>
              <a:latin typeface="+mn-lt"/>
              <a:cs typeface="Gill Sans" panose="020B0502020104020203" pitchFamily="34" charset="-79"/>
            </a:rPr>
            <a:t>Economic Impact Analysis</a:t>
          </a:r>
        </a:p>
      </dsp:txBody>
      <dsp:txXfrm>
        <a:off x="5347" y="1302216"/>
        <a:ext cx="2050021" cy="1336471"/>
      </dsp:txXfrm>
    </dsp:sp>
    <dsp:sp modelId="{629FAB9D-46AA-9041-A6CD-FF5C6411D00B}">
      <dsp:nvSpPr>
        <dsp:cNvPr id="0" name=""/>
        <dsp:cNvSpPr/>
      </dsp:nvSpPr>
      <dsp:spPr>
        <a:xfrm>
          <a:off x="2313897" y="773836"/>
          <a:ext cx="2050021" cy="548640"/>
        </a:xfrm>
        <a:prstGeom prst="rect">
          <a:avLst/>
        </a:prstGeom>
        <a:solidFill>
          <a:schemeClr val="accent3">
            <a:hueOff val="668566"/>
            <a:satOff val="2911"/>
            <a:lumOff val="16520"/>
            <a:alphaOff val="0"/>
          </a:schemeClr>
        </a:solidFill>
        <a:ln w="6350" cap="flat" cmpd="sng" algn="ctr">
          <a:solidFill>
            <a:schemeClr val="accent3">
              <a:hueOff val="668566"/>
              <a:satOff val="2911"/>
              <a:lumOff val="1652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>
              <a:latin typeface="+mn-lt"/>
              <a:cs typeface="Gill Sans" panose="020B0502020104020203" pitchFamily="34" charset="-79"/>
            </a:rPr>
            <a:t>2-Rayan</a:t>
          </a:r>
        </a:p>
      </dsp:txBody>
      <dsp:txXfrm>
        <a:off x="2313897" y="773836"/>
        <a:ext cx="2050021" cy="548640"/>
      </dsp:txXfrm>
    </dsp:sp>
    <dsp:sp modelId="{825D28D2-D033-2248-B401-865A75A3B565}">
      <dsp:nvSpPr>
        <dsp:cNvPr id="0" name=""/>
        <dsp:cNvSpPr/>
      </dsp:nvSpPr>
      <dsp:spPr>
        <a:xfrm>
          <a:off x="2317854" y="1284997"/>
          <a:ext cx="2050021" cy="1336471"/>
        </a:xfrm>
        <a:prstGeom prst="rect">
          <a:avLst/>
        </a:prstGeom>
        <a:solidFill>
          <a:schemeClr val="accent3">
            <a:tint val="40000"/>
            <a:alpha val="90000"/>
            <a:hueOff val="644647"/>
            <a:satOff val="23190"/>
            <a:lumOff val="3497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644647"/>
              <a:satOff val="23190"/>
              <a:lumOff val="3497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4320" tIns="182880" rIns="109728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>
              <a:latin typeface="+mn-lt"/>
              <a:cs typeface="Gill Sans" panose="020B0502020104020203" pitchFamily="34" charset="-79"/>
            </a:rPr>
            <a:t>Humanitarian Impact Analysis</a:t>
          </a:r>
        </a:p>
      </dsp:txBody>
      <dsp:txXfrm>
        <a:off x="2317854" y="1284997"/>
        <a:ext cx="2050021" cy="1336471"/>
      </dsp:txXfrm>
    </dsp:sp>
    <dsp:sp modelId="{84C8FA96-FEB8-7540-BC88-1D54E3196400}">
      <dsp:nvSpPr>
        <dsp:cNvPr id="0" name=""/>
        <dsp:cNvSpPr/>
      </dsp:nvSpPr>
      <dsp:spPr>
        <a:xfrm>
          <a:off x="4679397" y="726216"/>
          <a:ext cx="2050021" cy="576000"/>
        </a:xfrm>
        <a:prstGeom prst="rect">
          <a:avLst/>
        </a:prstGeom>
        <a:solidFill>
          <a:schemeClr val="accent3">
            <a:hueOff val="1337132"/>
            <a:satOff val="5821"/>
            <a:lumOff val="33040"/>
            <a:alphaOff val="0"/>
          </a:schemeClr>
        </a:solidFill>
        <a:ln w="6350" cap="flat" cmpd="sng" algn="ctr">
          <a:solidFill>
            <a:schemeClr val="accent3">
              <a:hueOff val="1337132"/>
              <a:satOff val="5821"/>
              <a:lumOff val="3304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>
              <a:latin typeface="+mn-lt"/>
              <a:cs typeface="Gill Sans" panose="020B0502020104020203" pitchFamily="34" charset="-79"/>
            </a:rPr>
            <a:t>3-Youssra</a:t>
          </a:r>
        </a:p>
      </dsp:txBody>
      <dsp:txXfrm>
        <a:off x="4679397" y="726216"/>
        <a:ext cx="2050021" cy="576000"/>
      </dsp:txXfrm>
    </dsp:sp>
    <dsp:sp modelId="{2A4D95D0-1702-3F46-BD02-49B126DE6B57}">
      <dsp:nvSpPr>
        <dsp:cNvPr id="0" name=""/>
        <dsp:cNvSpPr/>
      </dsp:nvSpPr>
      <dsp:spPr>
        <a:xfrm>
          <a:off x="4679397" y="1302216"/>
          <a:ext cx="2050021" cy="1336471"/>
        </a:xfrm>
        <a:prstGeom prst="rect">
          <a:avLst/>
        </a:prstGeom>
        <a:solidFill>
          <a:schemeClr val="accent3">
            <a:tint val="40000"/>
            <a:alpha val="90000"/>
            <a:hueOff val="1289294"/>
            <a:satOff val="46380"/>
            <a:lumOff val="6994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1289294"/>
              <a:satOff val="46380"/>
              <a:lumOff val="699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b="1" kern="1200"/>
            <a:t>Infrastructure Damage Analysis</a:t>
          </a:r>
        </a:p>
      </dsp:txBody>
      <dsp:txXfrm>
        <a:off x="4679397" y="1302216"/>
        <a:ext cx="2050021" cy="1336471"/>
      </dsp:txXfrm>
    </dsp:sp>
    <dsp:sp modelId="{F1FBA5DE-3E36-423C-83B4-D8B39F4321F8}">
      <dsp:nvSpPr>
        <dsp:cNvPr id="0" name=""/>
        <dsp:cNvSpPr/>
      </dsp:nvSpPr>
      <dsp:spPr>
        <a:xfrm>
          <a:off x="7016421" y="726216"/>
          <a:ext cx="2050021" cy="576000"/>
        </a:xfrm>
        <a:prstGeom prst="rect">
          <a:avLst/>
        </a:prstGeom>
        <a:solidFill>
          <a:schemeClr val="accent3">
            <a:hueOff val="2005699"/>
            <a:satOff val="8732"/>
            <a:lumOff val="49560"/>
            <a:alphaOff val="0"/>
          </a:schemeClr>
        </a:solidFill>
        <a:ln w="6350" cap="flat" cmpd="sng" algn="ctr">
          <a:solidFill>
            <a:schemeClr val="accent3">
              <a:hueOff val="2005699"/>
              <a:satOff val="8732"/>
              <a:lumOff val="4956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>
              <a:latin typeface="+mn-lt"/>
              <a:cs typeface="Gill Sans" panose="020B0502020104020203" pitchFamily="34" charset="-79"/>
            </a:rPr>
            <a:t>4-Hala</a:t>
          </a:r>
        </a:p>
      </dsp:txBody>
      <dsp:txXfrm>
        <a:off x="7016421" y="726216"/>
        <a:ext cx="2050021" cy="576000"/>
      </dsp:txXfrm>
    </dsp:sp>
    <dsp:sp modelId="{4D52AF3E-C7D5-4214-9733-923FAB097C56}">
      <dsp:nvSpPr>
        <dsp:cNvPr id="0" name=""/>
        <dsp:cNvSpPr/>
      </dsp:nvSpPr>
      <dsp:spPr>
        <a:xfrm>
          <a:off x="7016421" y="1302216"/>
          <a:ext cx="2050021" cy="1336471"/>
        </a:xfrm>
        <a:prstGeom prst="rect">
          <a:avLst/>
        </a:prstGeom>
        <a:solidFill>
          <a:schemeClr val="accent3">
            <a:tint val="40000"/>
            <a:alpha val="90000"/>
            <a:hueOff val="1933940"/>
            <a:satOff val="69569"/>
            <a:lumOff val="10491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1933940"/>
              <a:satOff val="69569"/>
              <a:lumOff val="10491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b="1" kern="1200"/>
            <a:t>International Response and Aid Analysis</a:t>
          </a:r>
        </a:p>
      </dsp:txBody>
      <dsp:txXfrm>
        <a:off x="7016421" y="1302216"/>
        <a:ext cx="2050021" cy="1336471"/>
      </dsp:txXfrm>
    </dsp:sp>
    <dsp:sp modelId="{300713F0-1B42-44D4-854F-AB1D826B5CF4}">
      <dsp:nvSpPr>
        <dsp:cNvPr id="0" name=""/>
        <dsp:cNvSpPr/>
      </dsp:nvSpPr>
      <dsp:spPr>
        <a:xfrm>
          <a:off x="9353446" y="726216"/>
          <a:ext cx="2050021" cy="576000"/>
        </a:xfrm>
        <a:prstGeom prst="rect">
          <a:avLst/>
        </a:prstGeom>
        <a:solidFill>
          <a:schemeClr val="accent3">
            <a:hueOff val="2674265"/>
            <a:satOff val="11643"/>
            <a:lumOff val="66080"/>
            <a:alphaOff val="0"/>
          </a:schemeClr>
        </a:solidFill>
        <a:ln w="6350" cap="flat" cmpd="sng" algn="ctr">
          <a:solidFill>
            <a:schemeClr val="accent3">
              <a:hueOff val="2674265"/>
              <a:satOff val="11643"/>
              <a:lumOff val="6608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>
              <a:latin typeface="+mn-lt"/>
              <a:cs typeface="Gill Sans" panose="020B0502020104020203" pitchFamily="34" charset="-79"/>
            </a:rPr>
            <a:t>5-Joseph</a:t>
          </a:r>
        </a:p>
      </dsp:txBody>
      <dsp:txXfrm>
        <a:off x="9353446" y="726216"/>
        <a:ext cx="2050021" cy="576000"/>
      </dsp:txXfrm>
    </dsp:sp>
    <dsp:sp modelId="{07B93F4E-5883-4A48-9B97-CB033B9C8CB5}">
      <dsp:nvSpPr>
        <dsp:cNvPr id="0" name=""/>
        <dsp:cNvSpPr/>
      </dsp:nvSpPr>
      <dsp:spPr>
        <a:xfrm>
          <a:off x="9353446" y="1302216"/>
          <a:ext cx="2050021" cy="1336471"/>
        </a:xfrm>
        <a:prstGeom prst="rect">
          <a:avLst/>
        </a:prstGeom>
        <a:solidFill>
          <a:schemeClr val="accent3">
            <a:tint val="40000"/>
            <a:alpha val="90000"/>
            <a:hueOff val="2578587"/>
            <a:satOff val="92759"/>
            <a:lumOff val="13988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2578587"/>
              <a:satOff val="92759"/>
              <a:lumOff val="13988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4320" tIns="182880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 dirty="0">
              <a:latin typeface="+mn-lt"/>
              <a:cs typeface="Gill Sans" panose="020B0502020104020203" pitchFamily="34" charset="-79"/>
            </a:rPr>
            <a:t> Conflict Parties and Actor Analysis</a:t>
          </a:r>
        </a:p>
      </dsp:txBody>
      <dsp:txXfrm>
        <a:off x="9353446" y="1302216"/>
        <a:ext cx="2050021" cy="13364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6E22E-288A-414B-A8DE-E4DBD03D5FC0}" type="datetimeFigureOut">
              <a:rPr lang="en-US"/>
              <a:t>5/6/2026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14579-D02A-4B51-B5DF-8EC449F77AC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812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9AE7E-E0F9-4C51-AD9A-F4C3A6E23BBF}" type="datetimeFigureOut">
              <a:rPr lang="en-US"/>
              <a:t>5/6/2026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74690-7256-4BB9-AC0F-97AEAE8CDEC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426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Rayan</a:t>
            </a:r>
            <a:r>
              <a:rPr lang="en-US"/>
              <a:t>: Page </a:t>
            </a:r>
            <a:r>
              <a:rPr lang="en-US" dirty="0"/>
              <a:t>1 to </a:t>
            </a:r>
            <a:r>
              <a:rPr lang="en-US"/>
              <a:t>Page 9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0178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3869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4C79B-AA5F-73A5-11BB-3ED792C70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7F98D-8811-8FE5-2619-97F81CABD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0B958-EEE6-7A7E-8EB8-0AF3495A6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7E25F-4ECD-5495-BAA5-BC23B0FF3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7975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CF62B-FC2A-F4D1-7096-61B25132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66A26-65D4-53B7-CD16-8343D0E6E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21665-6D14-606E-21B3-4AE3C8ED6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FF9B8-7FB0-BF27-8B6D-B2C6C4985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32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1FD10-54E7-CF81-C870-E525C0F94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D1D9A-670D-5321-7F05-1D94159FC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3DD34-97DC-A0C9-3215-AD446E7B2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1C62F-2A9F-0FA7-9922-F6E152255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7948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140BF-63C4-AE53-4A8F-905D3E67B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21060-0C08-E5DE-F6C4-AB4A33BA8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71415-D8EE-C5D9-8F77-22776F5AD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3C98E-6E1B-6F9C-22AF-6A895EA58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4080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DC390-4E7B-4DB9-41AD-0D41F96DB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818D0-9C90-7F15-8679-A9B7BCAE1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10C35-33CF-DFD6-D946-114FE0CC9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Hala</a:t>
            </a:r>
            <a:r>
              <a:rPr lang="en-US"/>
              <a:t>: Page 10 to Page 16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0C4D8-9987-8009-6A75-F22ECAEB6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0797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E2407-75F9-A476-C347-A4AF6B638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E5D2C-3838-D933-67AB-3C3A9498C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23FCA-F32B-A478-D7D8-DA5E28D2F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C5A88-96E3-A03A-BF8F-64E72D6683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0365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FD20E-B55C-FE8E-A4AC-30DB46CE3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991284-0D76-BD54-9B56-E30E1B9D2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308A0-3544-F83C-7864-BBE965E3B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15359-06EE-6A40-6C1B-EA3C33A9CA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3473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A9CBC-E6C7-95F5-47D2-AD81F9156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05A5B-0364-B5EE-5976-0E154C4DE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B1DD7-AB08-CDC4-1F39-1546D8324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A5701-7A08-447E-F1A9-057204D04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3588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2C42-056D-B762-6335-8291D2A0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76FBF-732C-B7EE-3D1C-D4916E725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3FF4F-9F82-0F15-1C76-1BF8CF95B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72A1A-10A4-EA98-8F66-A0F7D8BEC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45458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ABD00-EBA0-94D4-05B4-4982C250A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E2AD6-6312-1028-A4DE-8117A04B7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C7471-8480-A81A-D6A1-7E88B38DD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50BA4-CC3C-67BA-3C20-ED50CEF49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54131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29832-8DED-ECE8-18BB-1A6AE9913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7D78FE-B302-9A80-F565-84383858F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FA373-9F1B-CCFC-4D40-F32E3FF29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1F9BA-69C1-A53B-5E1F-FC1BC2F55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9298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B6395-62B1-9AB3-AF5D-016D033A0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6B42F-7322-889A-8D8C-5E23F698D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12C161-8CD4-2D5B-438C-FD0E9FF7D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Hisham</a:t>
            </a:r>
            <a:r>
              <a:rPr lang="en-US"/>
              <a:t>: Page 17 to Page 22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46B09-9395-C437-2D48-961243BA0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86884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5EEFE-D804-9711-9735-B8A2DB0F2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5B84B-21E2-ABEA-2834-E9F5FC5A2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6014D-AC67-2C89-438D-A022D604F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764F3-B334-90D6-DE7C-6FF47AA03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94648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61EF8-455C-DD43-82B6-177CA6187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8F7A0-7F93-5497-7CFD-4168A462D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63ACB-F477-4C2E-03D9-CE8B2DBC9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FEA23-4561-944A-641B-27105305F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1703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2AF5C-7850-D0E9-0BA5-67D8CAAF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A6A34-D315-5C19-9DD0-F99E0F66F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606C5-C781-EF60-4177-D207BECDC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30C8E-76AD-7F93-22EB-770D88C8F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08054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46BC1-CF54-E255-7C24-680AE6F6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87FB4-D237-E947-1BF2-5B57675B8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22EF1-E56B-187E-94A6-AAA29D939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F2C7E-223A-7419-814F-97D4FEFA5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53735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FA26F-1561-0E82-C8E8-C543A1485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C5A4A-36B1-DDE2-E813-8233C5F7E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E769C-0D07-0CF1-75AD-0F5F140ED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CF18C-1C79-A33C-6697-4C46B22EB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88411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0AD58-8ED5-3EFC-302A-825C2A8F0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19C0B-1776-7D84-EDC6-AE22AFE54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A8EF9-D06D-EB77-586B-B12A18456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Joseph</a:t>
            </a:r>
            <a:r>
              <a:rPr lang="en-US"/>
              <a:t>: Page 23 </a:t>
            </a:r>
            <a:r>
              <a:rPr lang="en-US" dirty="0"/>
              <a:t>to </a:t>
            </a:r>
            <a:r>
              <a:rPr lang="en-US"/>
              <a:t>Page 27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C158B-185A-DBA0-293E-528E38651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82219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23F3C-22C6-2533-1166-671916201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975AD-2249-C503-4240-D12340043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E7D83-DC7D-A8F3-C0D2-93C840B83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55310-9B35-2128-F6FF-D33CB169F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61566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5701D-838C-9D48-F215-98A81FA16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094F9-7193-D7F3-3221-ACFC3C944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A103A-C347-8CEF-E633-D79C39C85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BA301-11F4-71C7-F782-CC6071FDA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76745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3624C-164F-9DE7-2412-489F8210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8CFD3-5250-D1AD-608E-38DDD68D3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5F8DB-C930-C53B-E607-87086FC3D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20895-01EE-DC1F-38C9-A2086FD1B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83293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E9ABB-59D0-7ACB-215C-2EB53E448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7F7ED4-AD67-9D5B-24A1-7E7FB620B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FA22E1-A9F1-5654-DB8B-ECA991ACB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10D7C-7D76-D1D3-44DA-FBEDFED05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39098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6AF17-6661-81B5-9FBD-7C0DCC1FC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9F85E-82DE-7CC2-B38D-B6347A3C0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12DCE-3138-7BFE-0722-B0B06ED65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Youssra</a:t>
            </a:r>
            <a:r>
              <a:rPr lang="en-US"/>
              <a:t>: Page 28 </a:t>
            </a:r>
            <a:r>
              <a:rPr lang="en-US" dirty="0"/>
              <a:t>to </a:t>
            </a:r>
            <a:r>
              <a:rPr lang="en-US"/>
              <a:t>Page 36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3C547-4B11-96F1-E64C-567B10714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92002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7359E-3157-0337-2279-9A0852968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3DF1C-F364-DAB5-DEE1-3DE6847B9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F3CD5-87A1-4CB9-7738-766E84330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34396-DB13-6169-0284-F7320E391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60840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FF78-5F63-8A1C-DCE3-9DEAF753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E8908-7AC0-1EA7-48B6-6338D45CF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B527A-63F0-7D68-BFBD-7BAEAB3D6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3590D-7417-04F6-817F-60E5FA65B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9416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586B7-F7D8-4309-4CF0-A838FC59F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1D985-965D-D3A1-BBEE-81179282A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10C14-08DF-9C3D-F69C-B3AFD89BC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46CE8-36E6-65BB-014C-C0C85AB0D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39857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A3444-813B-7B22-2432-4D341AC3B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70C2E-A311-67F0-47FF-8A1AA4F99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EFFFC-EFF4-0A2D-5B01-3C0FE037E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1653E-5568-B73C-2E52-74E4DDBFC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98130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FEA7D-03E2-9BA3-960D-2F9B4F6D5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DFE595-B69A-F543-B276-37B316419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2EFE16-CF94-6CA6-D97D-261C0F5BA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3C6CE-AA31-23DF-E850-FB7F8EBA7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81134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659FF-BC39-9001-B0C5-F6191D286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9EF69A-E318-B62C-B49A-C3838FE58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DDC5B-C82A-D517-2CB0-80A629E1B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76EE7-68B6-5A5E-80DC-1345DA8B2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96722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446E-F361-6380-F342-E3B948125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40C39-731A-E860-38D7-DE6956C06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89C40-7D60-70A4-0534-0A4DF28F6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47AA8-794F-C982-4567-3B419A97C3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11744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F9124-FB6F-1EE1-D9CC-A6DA5E70D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39E9E-FA55-5B50-C59A-27935C174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B48AE-1BBD-43CC-D509-7C90C66B1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A3E3A-2941-F335-3517-1A90A5760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02930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3FF9F-20C4-876E-4560-AAE15796D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AED88-0CF6-E349-4828-70CA5292B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361CA5-8EF0-C48A-6714-42FD22BD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38F8E-574F-9D97-58B2-E520A11DE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74690-7256-4BB9-AC0F-97AEAE8CDEC2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8197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F2AB60-3F8C-B205-0E32-B5E61218EA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6080697 w 12188825"/>
              <a:gd name="connsiteY1" fmla="*/ 0 h 6858000"/>
              <a:gd name="connsiteX2" fmla="*/ 6080697 w 12188825"/>
              <a:gd name="connsiteY2" fmla="*/ 2898648 h 6858000"/>
              <a:gd name="connsiteX3" fmla="*/ 6108129 w 12188825"/>
              <a:gd name="connsiteY3" fmla="*/ 2898648 h 6858000"/>
              <a:gd name="connsiteX4" fmla="*/ 6108129 w 12188825"/>
              <a:gd name="connsiteY4" fmla="*/ 0 h 6858000"/>
              <a:gd name="connsiteX5" fmla="*/ 12188825 w 12188825"/>
              <a:gd name="connsiteY5" fmla="*/ 0 h 6858000"/>
              <a:gd name="connsiteX6" fmla="*/ 12188825 w 12188825"/>
              <a:gd name="connsiteY6" fmla="*/ 6858000 h 6858000"/>
              <a:gd name="connsiteX7" fmla="*/ 0 w 1218882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6080697" y="0"/>
                </a:lnTo>
                <a:lnTo>
                  <a:pt x="6080697" y="2898648"/>
                </a:lnTo>
                <a:lnTo>
                  <a:pt x="6108129" y="2898648"/>
                </a:lnTo>
                <a:lnTo>
                  <a:pt x="6108129" y="0"/>
                </a:ln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5988" y="2743200"/>
            <a:ext cx="11356848" cy="1627632"/>
          </a:xfrm>
        </p:spPr>
        <p:txBody>
          <a:bodyPr anchor="b">
            <a:noAutofit/>
          </a:bodyPr>
          <a:lstStyle>
            <a:lvl1pPr algn="ctr">
              <a:lnSpc>
                <a:spcPct val="90000"/>
              </a:lnSpc>
              <a:defRPr sz="6600" b="0" cap="none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 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0680" y="4901184"/>
            <a:ext cx="9427464" cy="987552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E24B88-F571-25BB-4513-3A17217DC2E5}"/>
              </a:ext>
            </a:extLst>
          </p:cNvPr>
          <p:cNvSpPr/>
          <p:nvPr userDrawn="1"/>
        </p:nvSpPr>
        <p:spPr>
          <a:xfrm rot="5400000">
            <a:off x="4645088" y="1435608"/>
            <a:ext cx="2898648" cy="2743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7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18577" y="0"/>
            <a:ext cx="4270248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AF402F-F8C6-E5B1-65C7-DFC0D8ED0878}"/>
              </a:ext>
            </a:extLst>
          </p:cNvPr>
          <p:cNvCxnSpPr>
            <a:cxnSpLocks/>
          </p:cNvCxnSpPr>
          <p:nvPr userDrawn="1"/>
        </p:nvCxnSpPr>
        <p:spPr>
          <a:xfrm>
            <a:off x="1522413" y="2743200"/>
            <a:ext cx="0" cy="4114800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0" y="2743200"/>
            <a:ext cx="5102352" cy="215798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6858000" cy="170078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391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20660" y="2386584"/>
            <a:ext cx="9747504" cy="401421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196DA-ED88-0EDC-A28F-7426416C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660" y="640080"/>
            <a:ext cx="9747504" cy="16256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046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355848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78808" y="2862072"/>
            <a:ext cx="7397496" cy="157276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8808" y="640080"/>
            <a:ext cx="7397496" cy="1773936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D5E17843-7672-6C71-1608-D794830CE89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60520" y="4846320"/>
            <a:ext cx="7397496" cy="1170432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defRPr sz="1200"/>
            </a:lvl1pPr>
            <a:lvl2pPr>
              <a:spcBef>
                <a:spcPts val="1200"/>
              </a:spcBef>
              <a:defRPr sz="1200"/>
            </a:lvl2pPr>
            <a:lvl3pPr>
              <a:spcBef>
                <a:spcPts val="1200"/>
              </a:spcBef>
              <a:defRPr sz="12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717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ntent, and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15400" y="0"/>
            <a:ext cx="2587752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" y="2679192"/>
            <a:ext cx="7242048" cy="1170432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2pPr>
            <a:lvl3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3pPr>
            <a:lvl4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4pPr>
            <a:lvl5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6858000" cy="1700784"/>
          </a:xfrm>
        </p:spPr>
        <p:txBody>
          <a:bodyPr/>
          <a:lstStyle>
            <a:lvl1pPr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7856CD97-B46D-FEB2-B35C-2890C62DB54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0080" y="4059936"/>
            <a:ext cx="7242048" cy="2130552"/>
          </a:xfrm>
        </p:spPr>
        <p:txBody>
          <a:bodyPr>
            <a:normAutofit/>
          </a:bodyPr>
          <a:lstStyle>
            <a:lvl1pPr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2pPr>
            <a:lvl3pPr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3pPr>
            <a:lvl4pPr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4pPr>
            <a:lvl5pPr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597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157CF4D-A5B0-F63D-3033-42520894BFE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88825" cy="6858000"/>
          </a:xfrm>
          <a:custGeom>
            <a:avLst/>
            <a:gdLst>
              <a:gd name="connsiteX0" fmla="*/ 4759389 w 12188825"/>
              <a:gd name="connsiteY0" fmla="*/ 4787265 h 6858000"/>
              <a:gd name="connsiteX1" fmla="*/ 4759389 w 12188825"/>
              <a:gd name="connsiteY1" fmla="*/ 4814697 h 6858000"/>
              <a:gd name="connsiteX2" fmla="*/ 7429437 w 12188825"/>
              <a:gd name="connsiteY2" fmla="*/ 4814697 h 6858000"/>
              <a:gd name="connsiteX3" fmla="*/ 7429437 w 12188825"/>
              <a:gd name="connsiteY3" fmla="*/ 4787265 h 6858000"/>
              <a:gd name="connsiteX4" fmla="*/ 0 w 12188825"/>
              <a:gd name="connsiteY4" fmla="*/ 0 h 6858000"/>
              <a:gd name="connsiteX5" fmla="*/ 12188825 w 12188825"/>
              <a:gd name="connsiteY5" fmla="*/ 0 h 6858000"/>
              <a:gd name="connsiteX6" fmla="*/ 12188825 w 12188825"/>
              <a:gd name="connsiteY6" fmla="*/ 6858000 h 6858000"/>
              <a:gd name="connsiteX7" fmla="*/ 0 w 1218882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825" h="6858000">
                <a:moveTo>
                  <a:pt x="4759389" y="4787265"/>
                </a:moveTo>
                <a:lnTo>
                  <a:pt x="4759389" y="4814697"/>
                </a:lnTo>
                <a:lnTo>
                  <a:pt x="7429437" y="4814697"/>
                </a:lnTo>
                <a:lnTo>
                  <a:pt x="7429437" y="4787265"/>
                </a:lnTo>
                <a:close/>
                <a:moveTo>
                  <a:pt x="0" y="0"/>
                </a:move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5988" y="3657600"/>
            <a:ext cx="11356848" cy="941832"/>
          </a:xfrm>
        </p:spPr>
        <p:txBody>
          <a:bodyPr anchor="t">
            <a:normAutofit/>
          </a:bodyPr>
          <a:lstStyle>
            <a:lvl1pPr algn="ctr">
              <a:lnSpc>
                <a:spcPct val="90000"/>
              </a:lnSpc>
              <a:defRPr sz="4800" b="0" cap="none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0680" y="5129784"/>
            <a:ext cx="9427464" cy="987552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C6E071-6E0A-A6A5-AC43-072450B96555}"/>
              </a:ext>
            </a:extLst>
          </p:cNvPr>
          <p:cNvSpPr/>
          <p:nvPr userDrawn="1"/>
        </p:nvSpPr>
        <p:spPr>
          <a:xfrm>
            <a:off x="4759388" y="4787265"/>
            <a:ext cx="2670048" cy="2743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2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6CCC78F-07A7-7F5C-E67F-2CFC846E0DE1}"/>
              </a:ext>
            </a:extLst>
          </p:cNvPr>
          <p:cNvSpPr/>
          <p:nvPr userDrawn="1"/>
        </p:nvSpPr>
        <p:spPr>
          <a:xfrm>
            <a:off x="3813048" y="612648"/>
            <a:ext cx="7635240" cy="548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D7FFB3F-B685-7C31-5080-632B0441EA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8906256" cy="6858000"/>
          </a:xfrm>
          <a:custGeom>
            <a:avLst/>
            <a:gdLst>
              <a:gd name="connsiteX0" fmla="*/ 0 w 8906256"/>
              <a:gd name="connsiteY0" fmla="*/ 0 h 6858000"/>
              <a:gd name="connsiteX1" fmla="*/ 8906256 w 8906256"/>
              <a:gd name="connsiteY1" fmla="*/ 0 h 6858000"/>
              <a:gd name="connsiteX2" fmla="*/ 8906256 w 8906256"/>
              <a:gd name="connsiteY2" fmla="*/ 612648 h 6858000"/>
              <a:gd name="connsiteX3" fmla="*/ 4945285 w 8906256"/>
              <a:gd name="connsiteY3" fmla="*/ 612648 h 6858000"/>
              <a:gd name="connsiteX4" fmla="*/ 3813048 w 8906256"/>
              <a:gd name="connsiteY4" fmla="*/ 612648 h 6858000"/>
              <a:gd name="connsiteX5" fmla="*/ 3813048 w 8906256"/>
              <a:gd name="connsiteY5" fmla="*/ 6099048 h 6858000"/>
              <a:gd name="connsiteX6" fmla="*/ 4945285 w 8906256"/>
              <a:gd name="connsiteY6" fmla="*/ 6099048 h 6858000"/>
              <a:gd name="connsiteX7" fmla="*/ 8906256 w 8906256"/>
              <a:gd name="connsiteY7" fmla="*/ 6099048 h 6858000"/>
              <a:gd name="connsiteX8" fmla="*/ 8906256 w 8906256"/>
              <a:gd name="connsiteY8" fmla="*/ 6858000 h 6858000"/>
              <a:gd name="connsiteX9" fmla="*/ 0 w 8906256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06256" h="6858000">
                <a:moveTo>
                  <a:pt x="0" y="0"/>
                </a:moveTo>
                <a:lnTo>
                  <a:pt x="8906256" y="0"/>
                </a:lnTo>
                <a:lnTo>
                  <a:pt x="8906256" y="612648"/>
                </a:lnTo>
                <a:lnTo>
                  <a:pt x="4945285" y="612648"/>
                </a:lnTo>
                <a:lnTo>
                  <a:pt x="3813048" y="612648"/>
                </a:lnTo>
                <a:lnTo>
                  <a:pt x="3813048" y="6099048"/>
                </a:lnTo>
                <a:lnTo>
                  <a:pt x="4945285" y="6099048"/>
                </a:lnTo>
                <a:lnTo>
                  <a:pt x="8906256" y="6099048"/>
                </a:lnTo>
                <a:lnTo>
                  <a:pt x="890625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1A4DAAA-F386-CC30-C391-320517CB5974}"/>
              </a:ext>
            </a:extLst>
          </p:cNvPr>
          <p:cNvCxnSpPr>
            <a:cxnSpLocks/>
          </p:cNvCxnSpPr>
          <p:nvPr userDrawn="1"/>
        </p:nvCxnSpPr>
        <p:spPr>
          <a:xfrm>
            <a:off x="4570412" y="3886200"/>
            <a:ext cx="687185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9B1E0A-D5BC-6920-B6F6-E799F22323B0}"/>
              </a:ext>
            </a:extLst>
          </p:cNvPr>
          <p:cNvCxnSpPr>
            <a:cxnSpLocks/>
          </p:cNvCxnSpPr>
          <p:nvPr userDrawn="1"/>
        </p:nvCxnSpPr>
        <p:spPr>
          <a:xfrm>
            <a:off x="11444684" y="3886200"/>
            <a:ext cx="74414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4840" y="1389888"/>
            <a:ext cx="6327648" cy="2304288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4A24C6E-B46B-052B-14AF-08C705E5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0368" y="3813048"/>
            <a:ext cx="2112264" cy="7112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803DA3C-F09E-61FF-139B-501447837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0368" y="4617720"/>
            <a:ext cx="1901952" cy="131673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16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lnSpc>
                <a:spcPct val="100000"/>
              </a:lnSpc>
              <a:spcBef>
                <a:spcPts val="400"/>
              </a:spcBef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8D23143E-34D4-7916-690C-3BE380588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74152" y="3813048"/>
            <a:ext cx="1901952" cy="7112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6FEC2F71-3E9B-0E18-C638-41C2B0C8D5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74152" y="4617720"/>
            <a:ext cx="1901952" cy="131673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16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lnSpc>
                <a:spcPct val="100000"/>
              </a:lnSpc>
              <a:spcBef>
                <a:spcPts val="400"/>
              </a:spcBef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654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444752"/>
            <a:ext cx="10360152" cy="4416552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0" y="5495544"/>
            <a:ext cx="4494212" cy="484632"/>
          </a:xfrm>
        </p:spPr>
        <p:txBody>
          <a:bodyPr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B62AAD-BDB5-5645-A722-E6A8180BB714}"/>
              </a:ext>
            </a:extLst>
          </p:cNvPr>
          <p:cNvCxnSpPr>
            <a:cxnSpLocks/>
          </p:cNvCxnSpPr>
          <p:nvPr userDrawn="1"/>
        </p:nvCxnSpPr>
        <p:spPr>
          <a:xfrm>
            <a:off x="7618412" y="6172200"/>
            <a:ext cx="4570413" cy="0"/>
          </a:xfrm>
          <a:prstGeom prst="line">
            <a:avLst/>
          </a:prstGeom>
          <a:ln w="254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44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D3C4F48-5124-C46E-5828-45F6F65E000F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88825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0" y="0"/>
            <a:ext cx="2587752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414016"/>
            <a:ext cx="7013448" cy="3374136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317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7409" y="0"/>
            <a:ext cx="4471416" cy="6858000"/>
          </a:xfrm>
          <a:solidFill>
            <a:schemeClr val="accent1"/>
          </a:solidFill>
        </p:spPr>
        <p:txBody>
          <a:bodyPr anchor="t">
            <a:noAutofit/>
          </a:bodyPr>
          <a:lstStyle>
            <a:lvl1pPr marL="0" indent="0" algn="ctr">
              <a:buNone/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" y="3172968"/>
            <a:ext cx="5102352" cy="2029968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6858000" cy="1700784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058072-A976-BB1B-E73B-039CA4102FD7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2667000"/>
            <a:ext cx="7722689" cy="0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A65D0A25-C9DB-7306-466C-DFD2401F85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02168" y="3172968"/>
            <a:ext cx="3255264" cy="2688336"/>
          </a:xfrm>
        </p:spPr>
        <p:txBody>
          <a:bodyPr lIns="91440" tIns="0">
            <a:noAutofit/>
          </a:bodyPr>
          <a:lstStyle>
            <a:lvl1pPr marL="0" indent="0">
              <a:buNone/>
              <a:defRPr sz="2400" cap="all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0" indent="0">
              <a:spcBef>
                <a:spcPts val="1800"/>
              </a:spcBef>
              <a:buNone/>
              <a:defRPr sz="1600">
                <a:solidFill>
                  <a:schemeClr val="accent2">
                    <a:lumMod val="20000"/>
                    <a:lumOff val="80000"/>
                  </a:schemeClr>
                </a:solidFill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2394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DE998D3-1DC1-ED0C-84CE-D3710A6AE4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4341813 w 12188825"/>
              <a:gd name="connsiteY1" fmla="*/ 0 h 6858000"/>
              <a:gd name="connsiteX2" fmla="*/ 4341813 w 12188825"/>
              <a:gd name="connsiteY2" fmla="*/ 4745736 h 6858000"/>
              <a:gd name="connsiteX3" fmla="*/ 4369245 w 12188825"/>
              <a:gd name="connsiteY3" fmla="*/ 4745736 h 6858000"/>
              <a:gd name="connsiteX4" fmla="*/ 4369245 w 12188825"/>
              <a:gd name="connsiteY4" fmla="*/ 0 h 6858000"/>
              <a:gd name="connsiteX5" fmla="*/ 12188825 w 12188825"/>
              <a:gd name="connsiteY5" fmla="*/ 0 h 6858000"/>
              <a:gd name="connsiteX6" fmla="*/ 12188825 w 12188825"/>
              <a:gd name="connsiteY6" fmla="*/ 6858000 h 6858000"/>
              <a:gd name="connsiteX7" fmla="*/ 0 w 1218882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4341813" y="0"/>
                </a:lnTo>
                <a:lnTo>
                  <a:pt x="4341813" y="4745736"/>
                </a:lnTo>
                <a:lnTo>
                  <a:pt x="4369245" y="4745736"/>
                </a:lnTo>
                <a:lnTo>
                  <a:pt x="4369245" y="0"/>
                </a:ln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1" y="640080"/>
            <a:ext cx="3200400" cy="2084832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4800" b="0" cap="none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CAA1D0-9CC9-4F01-19B8-029FF0FF1254}"/>
              </a:ext>
            </a:extLst>
          </p:cNvPr>
          <p:cNvSpPr/>
          <p:nvPr userDrawn="1"/>
        </p:nvSpPr>
        <p:spPr>
          <a:xfrm rot="5400000">
            <a:off x="1982661" y="2359152"/>
            <a:ext cx="4745736" cy="2743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D20188-2858-4017-16C7-8D8B2EB783A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73753" y="850260"/>
            <a:ext cx="2276856" cy="7112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351FF95-77DF-46F6-7673-71454E42D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3753" y="1380612"/>
            <a:ext cx="2276856" cy="131673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6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lnSpc>
                <a:spcPct val="100000"/>
              </a:lnSpc>
              <a:spcBef>
                <a:spcPts val="400"/>
              </a:spcBef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585749F-5840-3B72-40A1-A68404430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73753" y="2807076"/>
            <a:ext cx="2276856" cy="7112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A075B67-81C5-7714-2DF6-B942F80605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73753" y="3291708"/>
            <a:ext cx="2276856" cy="131673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6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lnSpc>
                <a:spcPct val="100000"/>
              </a:lnSpc>
              <a:spcBef>
                <a:spcPts val="400"/>
              </a:spcBef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811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CLASSICAL LITERATURE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836898" y="6172200"/>
            <a:ext cx="1218883" cy="30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593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CLASSICAL LITERATURE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836898" y="6172200"/>
            <a:ext cx="1218883" cy="30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28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1803400"/>
            <a:ext cx="6602281" cy="42672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803400"/>
            <a:ext cx="2844060" cy="4267201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CLASSICAL LITERATURE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36898" y="6172200"/>
            <a:ext cx="1218883" cy="30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864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 algn="l">
              <a:defRPr sz="4800" b="0">
                <a:latin typeface="Book Antiqua" panose="0204060205030503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8883" y="1803400"/>
            <a:ext cx="6602280" cy="426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338739" y="1925320"/>
            <a:ext cx="6362567" cy="402336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803401"/>
            <a:ext cx="2844060" cy="41656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CLASSICAL LITERATURE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36898" y="6172200"/>
            <a:ext cx="1218883" cy="30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505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431800"/>
            <a:ext cx="9751060" cy="1625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2362200"/>
            <a:ext cx="9751060" cy="3708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1183112" y="5413248"/>
            <a:ext cx="1298448" cy="2194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 cap="all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CLASSICAL LITERATURE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5572" y="6245352"/>
            <a:ext cx="54864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30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2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66" r:id="rId2"/>
    <p:sldLayoutId id="2147483767" r:id="rId3"/>
    <p:sldLayoutId id="2147483768" r:id="rId4"/>
    <p:sldLayoutId id="2147483769" r:id="rId5"/>
    <p:sldLayoutId id="2147483759" r:id="rId6"/>
    <p:sldLayoutId id="2147483770" r:id="rId7"/>
    <p:sldLayoutId id="2147483771" r:id="rId8"/>
    <p:sldLayoutId id="2147483772" r:id="rId9"/>
    <p:sldLayoutId id="2147483774" r:id="rId10"/>
    <p:sldLayoutId id="2147483775" r:id="rId11"/>
    <p:sldLayoutId id="2147483762" r:id="rId12"/>
    <p:sldLayoutId id="2147483763" r:id="rId13"/>
    <p:sldLayoutId id="2147483764" r:id="rId14"/>
    <p:sldLayoutId id="2147483765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4800" kern="1200" cap="all" spc="100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50000"/>
          </a:schemeClr>
        </a:buClr>
        <a:buFont typeface="Arial" pitchFamily="34" charset="0"/>
        <a:buChar char="•"/>
        <a:defRPr sz="24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1pPr>
      <a:lvl2pPr marL="54864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50000"/>
          </a:schemeClr>
        </a:buClr>
        <a:buFont typeface="Arial" pitchFamily="34" charset="0"/>
        <a:buChar char="•"/>
        <a:defRPr sz="20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2pPr>
      <a:lvl3pPr marL="85039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50000"/>
          </a:schemeClr>
        </a:buClr>
        <a:buFont typeface="Arial" pitchFamily="34" charset="0"/>
        <a:buChar char="•"/>
        <a:defRPr sz="18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3pPr>
      <a:lvl4pPr marL="115214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50000"/>
          </a:schemeClr>
        </a:buClr>
        <a:buFont typeface="Arial" pitchFamily="34" charset="0"/>
        <a:buChar char="•"/>
        <a:defRPr sz="16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4pPr>
      <a:lvl5pPr marL="1453896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50000"/>
          </a:schemeClr>
        </a:buClr>
        <a:buFont typeface="Arial" pitchFamily="34" charset="0"/>
        <a:buChar char="•"/>
        <a:defRPr sz="16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5pPr>
      <a:lvl6pPr marL="1755648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35915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66090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cleddata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3689B094-BE81-AFF6-4ADF-64158B52AE2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82" b="10227"/>
          <a:stretch>
            <a:fillRect/>
          </a:stretch>
        </p:blipFill>
        <p:spPr>
          <a:xfrm>
            <a:off x="-1023" y="10"/>
            <a:ext cx="12188825" cy="6857990"/>
          </a:xfrm>
          <a:custGeom>
            <a:avLst/>
            <a:gdLst>
              <a:gd name="connsiteX0" fmla="*/ 0 w 12188825"/>
              <a:gd name="connsiteY0" fmla="*/ 0 h 6858000"/>
              <a:gd name="connsiteX1" fmla="*/ 6080697 w 12188825"/>
              <a:gd name="connsiteY1" fmla="*/ 0 h 6858000"/>
              <a:gd name="connsiteX2" fmla="*/ 6080697 w 12188825"/>
              <a:gd name="connsiteY2" fmla="*/ 2898648 h 6858000"/>
              <a:gd name="connsiteX3" fmla="*/ 6108129 w 12188825"/>
              <a:gd name="connsiteY3" fmla="*/ 2898648 h 6858000"/>
              <a:gd name="connsiteX4" fmla="*/ 6108129 w 12188825"/>
              <a:gd name="connsiteY4" fmla="*/ 0 h 6858000"/>
              <a:gd name="connsiteX5" fmla="*/ 12188825 w 12188825"/>
              <a:gd name="connsiteY5" fmla="*/ 0 h 6858000"/>
              <a:gd name="connsiteX6" fmla="*/ 12188825 w 12188825"/>
              <a:gd name="connsiteY6" fmla="*/ 6858000 h 6858000"/>
              <a:gd name="connsiteX7" fmla="*/ 0 w 1218882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6080697" y="0"/>
                </a:lnTo>
                <a:lnTo>
                  <a:pt x="6080697" y="2898648"/>
                </a:lnTo>
                <a:lnTo>
                  <a:pt x="6108129" y="2898648"/>
                </a:lnTo>
                <a:lnTo>
                  <a:pt x="6108129" y="0"/>
                </a:ln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4A635A2-CC0C-270C-AC8A-59116BD6A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" y="1962151"/>
            <a:ext cx="12187802" cy="2355850"/>
          </a:xfrm>
        </p:spPr>
        <p:txBody>
          <a:bodyPr anchor="t">
            <a:normAutofit/>
          </a:bodyPr>
          <a:lstStyle/>
          <a:p>
            <a:r>
              <a:rPr lang="en-US" b="1" dirty="0"/>
              <a:t>Effects of Crisis/Conflicts on Countries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Data Modeling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430ABE-5769-388C-63FF-B1EA6AB45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9" y="4692650"/>
            <a:ext cx="12188825" cy="920750"/>
          </a:xfrm>
        </p:spPr>
        <p:txBody>
          <a:bodyPr anchor="t">
            <a:normAutofit/>
          </a:bodyPr>
          <a:lstStyle/>
          <a:p>
            <a:r>
              <a:rPr lang="en-CA" sz="2800" b="1" dirty="0"/>
              <a:t>Geographic Scope: 5 Countries</a:t>
            </a:r>
          </a:p>
          <a:p>
            <a:r>
              <a:rPr lang="en-CA" sz="2800" b="1" dirty="0"/>
              <a:t>Region: Middle east</a:t>
            </a:r>
          </a:p>
        </p:txBody>
      </p:sp>
    </p:spTree>
    <p:extLst>
      <p:ext uri="{BB962C8B-B14F-4D97-AF65-F5344CB8AC3E}">
        <p14:creationId xmlns:p14="http://schemas.microsoft.com/office/powerpoint/2010/main" val="379645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297CFA-6E96-2C78-BAF9-FECDA0D2C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484784"/>
            <a:ext cx="6955904" cy="861774"/>
          </a:xfrm>
        </p:spPr>
        <p:txBody>
          <a:bodyPr/>
          <a:lstStyle/>
          <a:p>
            <a:pPr algn="ctr"/>
            <a:r>
              <a:rPr lang="en-US" b="1"/>
              <a:t>Team 1 - members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D06F93-BADF-B868-37D1-DA06AE928C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57908" y="2764940"/>
            <a:ext cx="5544616" cy="30722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/>
              <a:t>Hisham Khraibah		040985922</a:t>
            </a:r>
          </a:p>
          <a:p>
            <a:pPr marL="0" indent="0">
              <a:buNone/>
            </a:pPr>
            <a:r>
              <a:rPr lang="en-US" sz="2600" b="1"/>
              <a:t>Rayan Haidar		041268172</a:t>
            </a:r>
          </a:p>
          <a:p>
            <a:pPr marL="0" indent="0">
              <a:buNone/>
            </a:pPr>
            <a:r>
              <a:rPr lang="en-US" sz="2600" b="1"/>
              <a:t>Hala Abdel Rahman 	041010280</a:t>
            </a:r>
          </a:p>
          <a:p>
            <a:pPr marL="0" indent="0">
              <a:buNone/>
            </a:pPr>
            <a:r>
              <a:rPr lang="en-US" sz="2600" b="1"/>
              <a:t>Youssra Ibrahim		041010280</a:t>
            </a:r>
          </a:p>
          <a:p>
            <a:pPr marL="0" indent="0">
              <a:buNone/>
            </a:pPr>
            <a:r>
              <a:rPr lang="en-US" sz="2600" b="1"/>
              <a:t>Joseph Alexius Tapang	041146039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BBCF6-2B40-5520-5644-8B392D21C1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CLASSICAL LITERATURE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06CB4-E4D5-97C2-AEE7-21F92E34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16BA82C0-6694-42A9-0766-D39031329FA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35" t="2116" r="22153" b="2118"/>
          <a:stretch>
            <a:fillRect/>
          </a:stretch>
        </p:blipFill>
        <p:spPr>
          <a:xfrm>
            <a:off x="7102524" y="0"/>
            <a:ext cx="5100645" cy="6858000"/>
          </a:xfrm>
          <a:prstGeom prst="rect">
            <a:avLst/>
          </a:prstGeom>
          <a:solidFill>
            <a:srgbClr val="E7E4E6"/>
          </a:solidFill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D3BFE48-9CE8-2E6E-7CB1-5B9EF0F91E6F}"/>
              </a:ext>
            </a:extLst>
          </p:cNvPr>
          <p:cNvSpPr txBox="1"/>
          <p:nvPr/>
        </p:nvSpPr>
        <p:spPr>
          <a:xfrm>
            <a:off x="74612" y="6271665"/>
            <a:ext cx="5654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accent4"/>
                </a:solidFill>
              </a:rPr>
              <a:t>2</a:t>
            </a:r>
          </a:p>
          <a:p>
            <a:endParaRPr lang="en-CA"/>
          </a:p>
        </p:txBody>
      </p:sp>
      <p:sp>
        <p:nvSpPr>
          <p:cNvPr id="4" name="Footer Placeholder 14">
            <a:extLst>
              <a:ext uri="{FF2B5EF4-FFF2-40B4-BE49-F238E27FC236}">
                <a16:creationId xmlns:a16="http://schemas.microsoft.com/office/drawing/2014/main" id="{7224ADDC-C7BA-416C-2716-ED757B6AA43E}"/>
              </a:ext>
            </a:extLst>
          </p:cNvPr>
          <p:cNvSpPr txBox="1">
            <a:spLocks/>
          </p:cNvSpPr>
          <p:nvPr/>
        </p:nvSpPr>
        <p:spPr>
          <a:xfrm rot="5400000">
            <a:off x="-1570698" y="4063594"/>
            <a:ext cx="3679304" cy="5379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/>
              <a:t>STOP Wars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77929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C7B967-60FC-F45E-6552-1866C26B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E446EC-409C-4B9C-7123-7E272E55C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21644"/>
            <a:ext cx="12188825" cy="790703"/>
          </a:xfrm>
        </p:spPr>
        <p:txBody>
          <a:bodyPr/>
          <a:lstStyle/>
          <a:p>
            <a:pPr algn="ctr"/>
            <a:r>
              <a:rPr lang="en-US" sz="4600" b="1" cap="none" dirty="0"/>
              <a:t>PROBLEM OVERVIEW</a:t>
            </a:r>
            <a:endParaRPr lang="en-US" sz="4600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E49717A-43B1-CA74-1B7A-4A275AA9DD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06140" y="1511302"/>
            <a:ext cx="9959432" cy="5346698"/>
          </a:xfrm>
        </p:spPr>
        <p:txBody>
          <a:bodyPr>
            <a:noAutofit/>
          </a:bodyPr>
          <a:lstStyle/>
          <a:p>
            <a:r>
              <a:rPr lang="en-US" sz="2600" b="1" dirty="0"/>
              <a:t>Political disagreements can escalate into conflicts or wars, disrupting country stability</a:t>
            </a:r>
          </a:p>
          <a:p>
            <a:r>
              <a:rPr lang="en-US" sz="2600" b="1" dirty="0"/>
              <a:t>Conflicts impact multiple sectors including economic, humanitarian, and infrastructure systems</a:t>
            </a:r>
          </a:p>
          <a:p>
            <a:r>
              <a:rPr lang="en-US" sz="2600" b="1" dirty="0"/>
              <a:t>Project analyzes conflict effects using anonymized, data-driven approach</a:t>
            </a:r>
          </a:p>
          <a:p>
            <a:r>
              <a:rPr lang="en-US" sz="2600" b="1" dirty="0"/>
              <a:t>Focus areas: Economic impact, Humanitarian impact, Infrastructure damage, Events, International aid &amp; response</a:t>
            </a:r>
          </a:p>
          <a:p>
            <a:r>
              <a:rPr lang="en-US" sz="2600" b="1" dirty="0"/>
              <a:t>Goal: Understand impacts of conflict to support better insights and decision-making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0D092-B411-BB7A-86C8-5FCE67DD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Footer Placeholder 14">
            <a:extLst>
              <a:ext uri="{FF2B5EF4-FFF2-40B4-BE49-F238E27FC236}">
                <a16:creationId xmlns:a16="http://schemas.microsoft.com/office/drawing/2014/main" id="{91F2452C-F40D-F886-0583-6D7337531DEC}"/>
              </a:ext>
            </a:extLst>
          </p:cNvPr>
          <p:cNvSpPr txBox="1">
            <a:spLocks/>
          </p:cNvSpPr>
          <p:nvPr/>
        </p:nvSpPr>
        <p:spPr>
          <a:xfrm rot="5400000">
            <a:off x="10497187" y="4597232"/>
            <a:ext cx="2743200" cy="6400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/>
              <a:t>STOP Wars</a:t>
            </a:r>
          </a:p>
        </p:txBody>
      </p:sp>
    </p:spTree>
    <p:extLst>
      <p:ext uri="{BB962C8B-B14F-4D97-AF65-F5344CB8AC3E}">
        <p14:creationId xmlns:p14="http://schemas.microsoft.com/office/powerpoint/2010/main" val="313791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B6A135-BE1D-A6EC-7E22-1FF9021DF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04" y="332656"/>
            <a:ext cx="4208016" cy="1584176"/>
          </a:xfrm>
        </p:spPr>
        <p:txBody>
          <a:bodyPr/>
          <a:lstStyle/>
          <a:p>
            <a:r>
              <a:rPr lang="en-US">
                <a:solidFill>
                  <a:schemeClr val="accent2">
                    <a:lumMod val="20000"/>
                    <a:lumOff val="80000"/>
                  </a:schemeClr>
                </a:solidFill>
              </a:rPr>
              <a:t>5 Business problems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82B3E-B6E4-9B0C-CA85-86A4154B16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0933" y="3167613"/>
            <a:ext cx="7242048" cy="1170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/>
              <a:t>Team Members &amp; Roles:</a:t>
            </a:r>
          </a:p>
        </p:txBody>
      </p:sp>
      <p:graphicFrame>
        <p:nvGraphicFramePr>
          <p:cNvPr id="6" name="Content Placeholder 8" descr="Vertical Box List showing 3 groups arranged one below the other and bullet points are present under each group.">
            <a:extLst>
              <a:ext uri="{FF2B5EF4-FFF2-40B4-BE49-F238E27FC236}">
                <a16:creationId xmlns:a16="http://schemas.microsoft.com/office/drawing/2014/main" id="{4C40C003-8753-AE3A-AE93-3ACDFDF20302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3863659172"/>
              </p:ext>
            </p:extLst>
          </p:nvPr>
        </p:nvGraphicFramePr>
        <p:xfrm>
          <a:off x="158204" y="3329608"/>
          <a:ext cx="11408816" cy="33649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96A836-17BB-0246-BB76-7E07F4C9A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025" y="6237312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93FC53C-3747-A832-A624-73D5FE908C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220" y="0"/>
            <a:ext cx="7822605" cy="2996952"/>
          </a:xfrm>
          <a:prstGeom prst="rect">
            <a:avLst/>
          </a:prstGeom>
        </p:spPr>
      </p:pic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7A90F42F-8DA5-CAD3-16F7-1A7C532042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095243" y="4075987"/>
            <a:ext cx="3679304" cy="507858"/>
          </a:xfrm>
        </p:spPr>
        <p:txBody>
          <a:bodyPr/>
          <a:lstStyle/>
          <a:p>
            <a:r>
              <a:rPr lang="en-US" sz="3200" b="1" dirty="0"/>
              <a:t>STOP Wars</a:t>
            </a:r>
          </a:p>
        </p:txBody>
      </p:sp>
    </p:spTree>
    <p:extLst>
      <p:ext uri="{BB962C8B-B14F-4D97-AF65-F5344CB8AC3E}">
        <p14:creationId xmlns:p14="http://schemas.microsoft.com/office/powerpoint/2010/main" val="239954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46FAC-1340-7933-3843-9D3028F2B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0156" y="16148"/>
            <a:ext cx="7397496" cy="692696"/>
          </a:xfrm>
        </p:spPr>
        <p:txBody>
          <a:bodyPr/>
          <a:lstStyle/>
          <a:p>
            <a:r>
              <a:rPr lang="en-US" b="1"/>
              <a:t>Data Sources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3B6BD441-CBEA-CB84-5E19-E298C9C941D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642929256"/>
              </p:ext>
            </p:extLst>
          </p:nvPr>
        </p:nvGraphicFramePr>
        <p:xfrm>
          <a:off x="3721991" y="768320"/>
          <a:ext cx="7711851" cy="43198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156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5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299">
                <a:tc>
                  <a:txBody>
                    <a:bodyPr/>
                    <a:lstStyle/>
                    <a:p>
                      <a:pPr algn="l"/>
                      <a:r>
                        <a:rPr lang="en-CA" sz="1500" b="1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Data Categories</a:t>
                      </a:r>
                      <a:endParaRPr lang="en-US" sz="1500" b="0" i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+mn-lt"/>
                        <a:cs typeface="Gill Sans" panose="020B0502020104020203" pitchFamily="34" charset="-79"/>
                      </a:endParaRPr>
                    </a:p>
                  </a:txBody>
                  <a:tcPr marL="182880" anchor="ctr">
                    <a:lnL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500" b="1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Columns To Generate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details, actors, locations</a:t>
                      </a:r>
                    </a:p>
                  </a:txBody>
                  <a:tcPr marL="18288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CA" sz="1800" b="1"/>
                        <a:t>Economic Impact</a:t>
                      </a:r>
                      <a:r>
                        <a:rPr lang="en-CA" sz="1800"/>
                        <a:t>: sector classification, business damage, trade disruption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1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Economic, humanitarian, infrastructure impacts</a:t>
                      </a:r>
                    </a:p>
                  </a:txBody>
                  <a:tcPr marL="18288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+mj-lt"/>
                        <a:buAutoNum type="arabicParenR" startAt="2"/>
                      </a:pPr>
                      <a:r>
                        <a:rPr lang="en-CA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Humanitarian Impact: </a:t>
                      </a:r>
                      <a:r>
                        <a:rPr lang="en-CA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displacement types, vulnerable groups, critical needs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arenR" startAt="2"/>
                      </a:pPr>
                      <a:r>
                        <a:rPr lang="en-CA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Infrastructure Damage: </a:t>
                      </a:r>
                      <a:r>
                        <a:rPr lang="en-CA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facility types, damage severity, service disruption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670">
                <a:tc>
                  <a:txBody>
                    <a:bodyPr/>
                    <a:lstStyle/>
                    <a:p>
                      <a:r>
                        <a:rPr lang="en-US" sz="18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International responses and aid flows</a:t>
                      </a:r>
                      <a:endParaRPr lang="en-US" sz="1800" b="1" i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cs typeface="Gill Sans" panose="020B0502020104020203" pitchFamily="34" charset="-79"/>
                      </a:endParaRPr>
                    </a:p>
                  </a:txBody>
                  <a:tcPr marL="18288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+mj-lt"/>
                        <a:buAutoNum type="arabicParenR" startAt="4"/>
                      </a:pPr>
                      <a:r>
                        <a:rPr lang="en-CA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International Response: </a:t>
                      </a:r>
                      <a:r>
                        <a:rPr lang="en-CA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aid organizations, diplomatic actions, media coverage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arenR" startAt="4"/>
                      </a:pPr>
                      <a:r>
                        <a:rPr lang="en-CA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Conflict Analysis: </a:t>
                      </a:r>
                      <a:r>
                        <a:rPr lang="en-CA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legal frameworks, weapon types, civilian harm assessment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1EEE33-5B3D-A31B-F560-8AE9AA44954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41248" y="5192461"/>
            <a:ext cx="8241796" cy="1556792"/>
          </a:xfrm>
        </p:spPr>
        <p:txBody>
          <a:bodyPr/>
          <a:lstStyle/>
          <a:p>
            <a:r>
              <a:rPr lang="en-US" sz="1800" b="1" dirty="0"/>
              <a:t>Primary Source:  ACLED (Armed Conflict Location &amp; Event Data)</a:t>
            </a:r>
          </a:p>
          <a:p>
            <a:r>
              <a:rPr lang="en-US" sz="1800" b="1" dirty="0"/>
              <a:t>Link: </a:t>
            </a:r>
            <a:r>
              <a:rPr lang="en-US" sz="1800" b="1" dirty="0">
                <a:hlinkClick r:id="rId3"/>
              </a:rPr>
              <a:t>https://acleddata.com/</a:t>
            </a:r>
            <a:endParaRPr lang="en-US" sz="1800" b="1" dirty="0"/>
          </a:p>
          <a:p>
            <a:r>
              <a:rPr lang="en-US" sz="1800" b="1" dirty="0"/>
              <a:t>11 years of data (January 2015 - March 2025)</a:t>
            </a:r>
          </a:p>
          <a:p>
            <a:r>
              <a:rPr lang="en-US" sz="1800" b="1" dirty="0"/>
              <a:t>5 country focus: Country A, Country B, Country C, Country D, Country 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6A5B1AD-82DF-8D7C-91DE-587ED27CD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9AE97BE-9F33-81A3-2D36-C923C197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B217128A-C494-F235-2FBC-628CFB512BA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62" t="1701" r="26152" b="-1701"/>
          <a:stretch>
            <a:fillRect/>
          </a:stretch>
        </p:blipFill>
        <p:spPr>
          <a:xfrm>
            <a:off x="0" y="0"/>
            <a:ext cx="3502124" cy="6987277"/>
          </a:xfrm>
          <a:prstGeom prst="rect">
            <a:avLst/>
          </a:prstGeom>
          <a:solidFill>
            <a:srgbClr val="E7E4E6"/>
          </a:solidFill>
        </p:spPr>
      </p:pic>
    </p:spTree>
    <p:extLst>
      <p:ext uri="{BB962C8B-B14F-4D97-AF65-F5344CB8AC3E}">
        <p14:creationId xmlns:p14="http://schemas.microsoft.com/office/powerpoint/2010/main" val="161659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EED4F-4077-8177-3BA8-DB68B52F3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6ADD585-09E1-6D85-20A0-D8D35EE7D3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61CBF2B-3CB4-1FB1-D302-572342DC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813D3EF2-B869-B604-3B1C-F5CBF59C73C0}"/>
              </a:ext>
            </a:extLst>
          </p:cNvPr>
          <p:cNvSpPr txBox="1"/>
          <p:nvPr/>
        </p:nvSpPr>
        <p:spPr>
          <a:xfrm>
            <a:off x="-1" y="2717266"/>
            <a:ext cx="12188825" cy="1423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89"/>
              </a:lnSpc>
            </a:pPr>
            <a:r>
              <a:rPr lang="en-US" sz="9600" b="1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What We Achieved</a:t>
            </a:r>
          </a:p>
        </p:txBody>
      </p:sp>
    </p:spTree>
    <p:extLst>
      <p:ext uri="{BB962C8B-B14F-4D97-AF65-F5344CB8AC3E}">
        <p14:creationId xmlns:p14="http://schemas.microsoft.com/office/powerpoint/2010/main" val="286867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CAFDE-4C19-DE09-0270-BC9DEAD5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D4DDD1-1C23-7DF3-0AEF-005E680BB02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0" y="1352550"/>
            <a:ext cx="4639851" cy="5505449"/>
          </a:xfrm>
        </p:spPr>
        <p:txBody>
          <a:bodyPr anchor="t"/>
          <a:lstStyle/>
          <a:p>
            <a:r>
              <a:rPr lang="en-US" sz="2800" b="1"/>
              <a:t>Define five business problems</a:t>
            </a:r>
          </a:p>
          <a:p>
            <a:r>
              <a:rPr lang="en-US" sz="2800" b="1"/>
              <a:t>Design fact and dimension tables for each problem</a:t>
            </a:r>
          </a:p>
          <a:p>
            <a:r>
              <a:rPr lang="en-US" sz="2800" b="1"/>
              <a:t>Generate the dataset columns required for each business scenario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622E396-5387-E345-1223-EA674632C9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750AE02-99B0-1C47-A990-A60A296F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21085C-B15E-B5DB-6D3C-1C6E81307DC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851" y="1"/>
            <a:ext cx="7548974" cy="6858000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D9D173FF-EE21-12A7-D32C-BDA366AE9A07}"/>
              </a:ext>
            </a:extLst>
          </p:cNvPr>
          <p:cNvSpPr txBox="1">
            <a:spLocks/>
          </p:cNvSpPr>
          <p:nvPr/>
        </p:nvSpPr>
        <p:spPr>
          <a:xfrm>
            <a:off x="0" y="94226"/>
            <a:ext cx="4639851" cy="863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800" kern="1200" cap="all" spc="100" baseline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/>
              <a:t>Phase 1</a:t>
            </a:r>
          </a:p>
        </p:txBody>
      </p:sp>
    </p:spTree>
    <p:extLst>
      <p:ext uri="{BB962C8B-B14F-4D97-AF65-F5344CB8AC3E}">
        <p14:creationId xmlns:p14="http://schemas.microsoft.com/office/powerpoint/2010/main" val="397670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D772D-778F-93A7-7CE7-16BB5A630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E0A44D-E430-210D-9126-83163C51164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0" y="1052050"/>
            <a:ext cx="4639851" cy="5805949"/>
          </a:xfrm>
        </p:spPr>
        <p:txBody>
          <a:bodyPr anchor="t"/>
          <a:lstStyle/>
          <a:p>
            <a:r>
              <a:rPr lang="en-US" sz="2800" b="1"/>
              <a:t>Dataset:  ACLED</a:t>
            </a:r>
          </a:p>
          <a:p>
            <a:r>
              <a:rPr lang="en-US" sz="2800" b="1"/>
              <a:t>Columns: 119, Records: 3000</a:t>
            </a:r>
          </a:p>
          <a:p>
            <a:r>
              <a:rPr lang="en-US" sz="2800" b="1"/>
              <a:t>Grain: One conflict event per country in a time per row</a:t>
            </a:r>
          </a:p>
          <a:p>
            <a:r>
              <a:rPr lang="en-US" sz="2800" b="1"/>
              <a:t>Created the 5 schemas for 5 Business Processes</a:t>
            </a:r>
          </a:p>
          <a:p>
            <a:r>
              <a:rPr lang="en-US" sz="2800" b="1"/>
              <a:t>Connected the 5 schemas with conformed dimensions.</a:t>
            </a:r>
          </a:p>
          <a:p>
            <a:r>
              <a:rPr lang="en-US" sz="2800" b="1"/>
              <a:t>Conformed: </a:t>
            </a:r>
            <a:r>
              <a:rPr lang="en-US" sz="2800" b="1" err="1"/>
              <a:t>Dim_time</a:t>
            </a:r>
            <a:r>
              <a:rPr lang="en-US" sz="2800" b="1"/>
              <a:t>, </a:t>
            </a:r>
            <a:r>
              <a:rPr lang="en-US" sz="2800" b="1" err="1"/>
              <a:t>Dim_location</a:t>
            </a:r>
            <a:endParaRPr lang="en-US" sz="2800" b="1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A1B9FD44-B2A5-1FBD-2E06-050796CB89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FA85350-882E-8FC0-D6D6-0179D57FC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5466B1-9A9E-E3FC-7D72-7D35A67094E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851" y="1"/>
            <a:ext cx="7548974" cy="6858000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70F78691-AB91-0BB3-997E-831C715966A3}"/>
              </a:ext>
            </a:extLst>
          </p:cNvPr>
          <p:cNvSpPr txBox="1">
            <a:spLocks/>
          </p:cNvSpPr>
          <p:nvPr/>
        </p:nvSpPr>
        <p:spPr>
          <a:xfrm>
            <a:off x="0" y="94226"/>
            <a:ext cx="4639851" cy="863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800" kern="1200" cap="all" spc="100" baseline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/>
              <a:t>Phase 2</a:t>
            </a:r>
          </a:p>
        </p:txBody>
      </p:sp>
    </p:spTree>
    <p:extLst>
      <p:ext uri="{BB962C8B-B14F-4D97-AF65-F5344CB8AC3E}">
        <p14:creationId xmlns:p14="http://schemas.microsoft.com/office/powerpoint/2010/main" val="248272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EB4415-7126-0238-8258-C8403AC55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0574F3-212E-D9C5-282B-09DDF9C1C74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0" y="1052050"/>
            <a:ext cx="4639851" cy="5805949"/>
          </a:xfrm>
        </p:spPr>
        <p:txBody>
          <a:bodyPr anchor="t"/>
          <a:lstStyle/>
          <a:p>
            <a:r>
              <a:rPr lang="en-US" sz="2800" b="1"/>
              <a:t>Fixed Joseph’s schema by changing the Actor Dimension to role play dimension</a:t>
            </a:r>
          </a:p>
          <a:p>
            <a:r>
              <a:rPr lang="en-US" sz="2800" b="1"/>
              <a:t>Develop DAX measures and calculations</a:t>
            </a:r>
          </a:p>
          <a:p>
            <a:r>
              <a:rPr lang="en-US" sz="2800" b="1"/>
              <a:t>Design interactive Power BI dashboards</a:t>
            </a:r>
          </a:p>
          <a:p>
            <a:r>
              <a:rPr lang="en-US" sz="2800" b="1"/>
              <a:t>5 Dashboard for each Business Process</a:t>
            </a:r>
          </a:p>
          <a:p>
            <a:r>
              <a:rPr lang="en-US" sz="2800" b="1"/>
              <a:t>1 overall Dashboard for the project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933308B-D200-20AE-9843-8758861D55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1A8A3FD-7EB8-E471-C2C7-8E15505C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B641A-A3DC-1A61-2040-A9E0427F0C5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851" y="1"/>
            <a:ext cx="7548974" cy="6858000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D77EEB2E-86E1-4087-2B43-D8707B2B318D}"/>
              </a:ext>
            </a:extLst>
          </p:cNvPr>
          <p:cNvSpPr txBox="1">
            <a:spLocks/>
          </p:cNvSpPr>
          <p:nvPr/>
        </p:nvSpPr>
        <p:spPr>
          <a:xfrm>
            <a:off x="0" y="94226"/>
            <a:ext cx="4639851" cy="863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800" kern="1200" cap="all" spc="100" baseline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/>
              <a:t>Phase 3</a:t>
            </a:r>
          </a:p>
        </p:txBody>
      </p:sp>
    </p:spTree>
    <p:extLst>
      <p:ext uri="{BB962C8B-B14F-4D97-AF65-F5344CB8AC3E}">
        <p14:creationId xmlns:p14="http://schemas.microsoft.com/office/powerpoint/2010/main" val="409064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F2C86-D1CD-6CD6-0543-992771934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4CF9F2BF-CC75-2727-D992-7AAEAA3B5B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 dirty="0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F2D250F-C3F2-1E1F-4AB4-DD4A4AAE5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CA63DC29-8116-FB8A-3C98-216CD1823A7C}"/>
              </a:ext>
            </a:extLst>
          </p:cNvPr>
          <p:cNvSpPr txBox="1"/>
          <p:nvPr/>
        </p:nvSpPr>
        <p:spPr>
          <a:xfrm>
            <a:off x="-1" y="2717266"/>
            <a:ext cx="12188825" cy="1423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89"/>
              </a:lnSpc>
            </a:pPr>
            <a:r>
              <a:rPr lang="en-US" sz="9600" b="1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Fact &amp; Dimensions</a:t>
            </a:r>
          </a:p>
        </p:txBody>
      </p:sp>
    </p:spTree>
    <p:extLst>
      <p:ext uri="{BB962C8B-B14F-4D97-AF65-F5344CB8AC3E}">
        <p14:creationId xmlns:p14="http://schemas.microsoft.com/office/powerpoint/2010/main" val="290341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E2B02-3C28-5A03-3AC3-DFCC8CBF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A5204C1-1BC7-C911-F73F-DB8ED5F02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61"/>
            <a:ext cx="12188890" cy="687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39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982CA-02DD-6F79-E225-FDB62D4E1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5187322-7BFC-7CA3-2251-9DB17CC52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24"/>
            <a:ext cx="12182251" cy="685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80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A5A13-7476-3F28-CE0B-2B340AC7D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A3CB63-FA87-5183-0C57-14CC5148A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" y="0"/>
            <a:ext cx="122049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5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AD665-33B7-994D-63D3-36344C6AF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D3DA1C-BA0E-1A2E-444A-850057C6C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34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43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F2531-0E24-D03C-EA9E-9EFD0E0F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93A34A2-8BEA-71C3-9E04-D5026139C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" y="0"/>
            <a:ext cx="12187019" cy="686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82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FA6730-020F-2D7E-C4B7-9778B763E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AF7634B0-2512-6E6E-32E4-8231F862EB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 dirty="0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919CB99-05C8-DB09-3CB8-0F9623F9E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8A15687E-47B4-2A10-1666-46B462441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1650"/>
            <a:ext cx="12188825" cy="806245"/>
          </a:xfrm>
        </p:spPr>
        <p:txBody>
          <a:bodyPr/>
          <a:lstStyle/>
          <a:p>
            <a:pPr algn="ctr">
              <a:tabLst>
                <a:tab pos="3657600" algn="l"/>
              </a:tabLst>
            </a:pPr>
            <a:r>
              <a:rPr lang="en-US" sz="4400" b="1"/>
              <a:t>Dimensional Modeling Approach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DCA570-A7E2-2B06-6F7A-8F3E7A65D928}"/>
              </a:ext>
            </a:extLst>
          </p:cNvPr>
          <p:cNvSpPr txBox="1"/>
          <p:nvPr/>
        </p:nvSpPr>
        <p:spPr>
          <a:xfrm>
            <a:off x="474610" y="1594594"/>
            <a:ext cx="79454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Conformed Dimensions (Time &amp; Location)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Standardized dimensions: shared across all schemas for consistent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Time Dimension: supports trend analysis (day, month, year)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Location Dimension: enables geographic analysis (country, region)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Role-Playing Dimension (Actor)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 single dimension used in different roles in the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Includes Primary Actor and Secondary Actor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Helps analyze different conflict participants and their roles</a:t>
            </a:r>
          </a:p>
        </p:txBody>
      </p:sp>
    </p:spTree>
    <p:extLst>
      <p:ext uri="{BB962C8B-B14F-4D97-AF65-F5344CB8AC3E}">
        <p14:creationId xmlns:p14="http://schemas.microsoft.com/office/powerpoint/2010/main" val="373457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9F57F3-97DF-2243-504A-581FF9655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269A7067-E2B3-E141-AEBF-16D280C62D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6E06365-A890-B6E8-D60C-6904D9B7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F44AFC74-27F8-BB13-955A-8CFB0541C77F}"/>
              </a:ext>
            </a:extLst>
          </p:cNvPr>
          <p:cNvSpPr txBox="1"/>
          <p:nvPr/>
        </p:nvSpPr>
        <p:spPr>
          <a:xfrm>
            <a:off x="-1" y="2717266"/>
            <a:ext cx="12188825" cy="1423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89"/>
              </a:lnSpc>
            </a:pPr>
            <a:r>
              <a:rPr lang="en-US" sz="9600" b="1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373073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93729-E31A-37D4-2FDA-47C9B029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7EA562-2F1C-019C-FAE4-678C51EB1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88825" cy="740991"/>
          </a:xfrm>
        </p:spPr>
        <p:txBody>
          <a:bodyPr/>
          <a:lstStyle/>
          <a:p>
            <a:pPr algn="ctr"/>
            <a:r>
              <a:rPr lang="en-US" b="1"/>
              <a:t>Snowflake schema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D411B2-62D0-C919-3873-16CC2B696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" r="1"/>
          <a:stretch>
            <a:fillRect/>
          </a:stretch>
        </p:blipFill>
        <p:spPr>
          <a:xfrm>
            <a:off x="-1" y="740990"/>
            <a:ext cx="11680967" cy="6117009"/>
          </a:xfrm>
          <a:prstGeom prst="rect">
            <a:avLst/>
          </a:prstGeom>
        </p:spPr>
      </p:pic>
      <p:sp>
        <p:nvSpPr>
          <p:cNvPr id="2" name="Footer Placeholder 14">
            <a:extLst>
              <a:ext uri="{FF2B5EF4-FFF2-40B4-BE49-F238E27FC236}">
                <a16:creationId xmlns:a16="http://schemas.microsoft.com/office/drawing/2014/main" id="{DBCA9CD4-C718-6A42-CDEF-4827E43C48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095244" y="4075986"/>
            <a:ext cx="3679304" cy="507859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11D6B3F5-7C87-F305-3D1E-ADE78489B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1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D7F462-2599-A23A-352A-F4BF7874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1E721DE-2A73-4D62-2CF7-A2C27D844B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095244" y="4075986"/>
            <a:ext cx="3679304" cy="507859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C351290-0455-5CAA-1C6F-FA1595455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4870FC0-7496-5E50-DA5F-BE8A1A278468}"/>
              </a:ext>
            </a:extLst>
          </p:cNvPr>
          <p:cNvSpPr txBox="1">
            <a:spLocks/>
          </p:cNvSpPr>
          <p:nvPr/>
        </p:nvSpPr>
        <p:spPr>
          <a:xfrm>
            <a:off x="-1" y="0"/>
            <a:ext cx="12188825" cy="74099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800" kern="1200" cap="all" spc="100" baseline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/>
              <a:t>Hisham star schema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C6EE0F-711D-B1DB-DFA6-82576F8E2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40991"/>
            <a:ext cx="11680966" cy="611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0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D8D8AA-A50C-B46D-3A6D-1B4EFC570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FCE9E29-F1AB-6C6E-509B-2BE549A8A4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65D988-5834-E55B-FB7A-236F61A9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02339D5-90A3-4801-7904-E0D3AF53D7B9}"/>
              </a:ext>
            </a:extLst>
          </p:cNvPr>
          <p:cNvSpPr txBox="1">
            <a:spLocks/>
          </p:cNvSpPr>
          <p:nvPr/>
        </p:nvSpPr>
        <p:spPr>
          <a:xfrm>
            <a:off x="-1" y="0"/>
            <a:ext cx="12188825" cy="74099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800" kern="1200" cap="all" spc="100" baseline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/>
              <a:t>Rayan star schema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CFEDB8-DB10-28C9-5DD2-B1C55348E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" y="740991"/>
            <a:ext cx="11679280" cy="616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62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9436AC-E892-D5A9-935C-C68F944B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F93FDD-5ADB-652F-9412-CA2EA2D95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88825" cy="744130"/>
          </a:xfrm>
        </p:spPr>
        <p:txBody>
          <a:bodyPr/>
          <a:lstStyle/>
          <a:p>
            <a:pPr algn="ctr"/>
            <a:r>
              <a:rPr lang="en-US" b="1"/>
              <a:t>Youssra star schema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25F1C73-7EAE-B517-8464-1BD9B2463A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E99DD1B-6FA4-9C6D-7114-631D0B170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63D02-F030-3111-6BE0-346076F19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4131"/>
            <a:ext cx="11680966" cy="611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1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4B643-37F6-12A8-9EC4-6A8D615D6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33129C-DD91-8ABE-9575-AE570C9FD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424"/>
            <a:ext cx="12188825" cy="737016"/>
          </a:xfrm>
        </p:spPr>
        <p:txBody>
          <a:bodyPr/>
          <a:lstStyle/>
          <a:p>
            <a:pPr algn="ctr"/>
            <a:r>
              <a:rPr lang="en-US" b="1"/>
              <a:t>Hala star schema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D324E56-17CB-846D-E461-7456A7A281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847E3F6-1F74-ABB2-4E01-ED639FA36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A1953A-B78A-24C9-08A8-FB514E7CCC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50439"/>
            <a:ext cx="11680967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41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1A838-910D-8228-ADB5-827BBCA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7F656C-A80C-F343-38A4-0C837BFE4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88825" cy="737824"/>
          </a:xfrm>
        </p:spPr>
        <p:txBody>
          <a:bodyPr/>
          <a:lstStyle/>
          <a:p>
            <a:pPr algn="ctr"/>
            <a:r>
              <a:rPr lang="en-US" b="1"/>
              <a:t>Joseph OLD star schema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69A8232-14A5-7CD1-3B73-6FEE3B8ABB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5A6E25E-2C35-A11A-9988-D6164518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0BE021-A259-A9A4-FD92-249E4E443E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7825"/>
            <a:ext cx="11680966" cy="612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3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DD3AA5-EE51-2E98-39B5-E96D67A77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01005B-6C7A-CD55-FFA9-A7762EA78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88825" cy="737824"/>
          </a:xfrm>
        </p:spPr>
        <p:txBody>
          <a:bodyPr/>
          <a:lstStyle/>
          <a:p>
            <a:pPr algn="ctr"/>
            <a:r>
              <a:rPr lang="en-US" b="1"/>
              <a:t>Joseph New star schema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4CA9367-D57F-EE4E-E78D-04D8BF42D0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824F11-D36A-C614-B193-B7FDD743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974F35-2F5A-6354-E85D-EEC7AA9BAC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8" t="2473"/>
          <a:stretch>
            <a:fillRect/>
          </a:stretch>
        </p:blipFill>
        <p:spPr>
          <a:xfrm>
            <a:off x="0" y="737825"/>
            <a:ext cx="11680966" cy="612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11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A3327-F048-BA76-B59F-5463663FA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4">
            <a:extLst>
              <a:ext uri="{FF2B5EF4-FFF2-40B4-BE49-F238E27FC236}">
                <a16:creationId xmlns:a16="http://schemas.microsoft.com/office/drawing/2014/main" id="{09399008-CE58-0E0B-82CF-D03B650131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095243" y="4075987"/>
            <a:ext cx="3679304" cy="507858"/>
          </a:xfrm>
        </p:spPr>
        <p:txBody>
          <a:bodyPr/>
          <a:lstStyle/>
          <a:p>
            <a:r>
              <a:rPr lang="en-US" sz="3200" b="1" dirty="0"/>
              <a:t>STOP Wars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E40B29-041E-1D7B-FC9B-3CB6EEC10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8905" y="19665"/>
            <a:ext cx="12188825" cy="737824"/>
          </a:xfrm>
        </p:spPr>
        <p:txBody>
          <a:bodyPr/>
          <a:lstStyle/>
          <a:p>
            <a:pPr algn="ctr"/>
            <a:r>
              <a:rPr lang="en-US" b="1"/>
              <a:t>Joseph schema Changes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BD9E743-D58C-FBFD-97C1-437491439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A2193F-1DC4-42F8-7047-E79F4FF53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623" y="1416117"/>
            <a:ext cx="2251653" cy="54498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C92EDD-F33F-5F61-502F-3EFCBA0E0026}"/>
              </a:ext>
            </a:extLst>
          </p:cNvPr>
          <p:cNvSpPr txBox="1"/>
          <p:nvPr/>
        </p:nvSpPr>
        <p:spPr>
          <a:xfrm>
            <a:off x="96498" y="1031396"/>
            <a:ext cx="6328125" cy="564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/>
              <a:t>Schema Optimization: Actor Dimension Redesign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/>
              <a:t>Replaced two separate tables (Primary Actor &amp; Secondary Actor) with a single unified </a:t>
            </a:r>
            <a:r>
              <a:rPr lang="en-US" sz="1900" err="1"/>
              <a:t>DIM_Actor</a:t>
            </a:r>
            <a:r>
              <a:rPr lang="en-US" sz="1900"/>
              <a:t> table </a:t>
            </a:r>
          </a:p>
          <a:p>
            <a:endParaRPr lang="en-US" sz="1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/>
              <a:t>Implemented a </a:t>
            </a:r>
            <a:r>
              <a:rPr lang="en-US" sz="1900" b="1"/>
              <a:t>role-playing dimension</a:t>
            </a:r>
            <a:r>
              <a:rPr lang="en-US" sz="1900"/>
              <a:t> to represent both actor roles (Primary &amp; Secondary)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/>
              <a:t>Added </a:t>
            </a:r>
            <a:r>
              <a:rPr lang="en-US" sz="1900" b="1"/>
              <a:t>two foreign keys in the Fact table</a:t>
            </a:r>
            <a:r>
              <a:rPr lang="en-US" sz="1900"/>
              <a:t>: </a:t>
            </a:r>
          </a:p>
          <a:p>
            <a:pPr lvl="1"/>
            <a:r>
              <a:rPr lang="en-US" sz="1900"/>
              <a:t>actor1_key → Primary Actor </a:t>
            </a:r>
          </a:p>
          <a:p>
            <a:pPr lvl="1"/>
            <a:r>
              <a:rPr lang="en-US" sz="1900"/>
              <a:t>actor2_key → Secondary Actor </a:t>
            </a:r>
          </a:p>
          <a:p>
            <a:pPr lvl="1"/>
            <a:endParaRPr lang="en-US" sz="1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/>
              <a:t>Established two relationships between Fact and </a:t>
            </a:r>
            <a:r>
              <a:rPr lang="en-US" sz="1900" err="1"/>
              <a:t>DIM_Actor</a:t>
            </a:r>
            <a:r>
              <a:rPr lang="en-US" sz="1900"/>
              <a:t>: </a:t>
            </a:r>
          </a:p>
          <a:p>
            <a:pPr lvl="1"/>
            <a:r>
              <a:rPr lang="en-US" sz="1900" b="1"/>
              <a:t>One active relationship</a:t>
            </a:r>
            <a:r>
              <a:rPr lang="en-US" sz="1900"/>
              <a:t> (used by default in analysis) </a:t>
            </a:r>
          </a:p>
          <a:p>
            <a:pPr lvl="1"/>
            <a:r>
              <a:rPr lang="en-US" sz="1900" b="1"/>
              <a:t>One inactive relationship</a:t>
            </a:r>
            <a:r>
              <a:rPr lang="en-US" sz="1900"/>
              <a:t> (activated when needed using DAX) </a:t>
            </a:r>
          </a:p>
          <a:p>
            <a:pPr lvl="1"/>
            <a:endParaRPr lang="en-US" sz="1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/>
              <a:t>Enabled </a:t>
            </a:r>
            <a:r>
              <a:rPr lang="en-US" sz="1900" b="1"/>
              <a:t>flexible analysis of both actors</a:t>
            </a:r>
            <a:r>
              <a:rPr lang="en-US" sz="1900"/>
              <a:t> without duplicating dimension tables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/>
              <a:t>Reduced </a:t>
            </a:r>
            <a:r>
              <a:rPr lang="en-US" sz="1900" b="1"/>
              <a:t>data redundancy and model complexity</a:t>
            </a:r>
            <a:r>
              <a:rPr lang="en-US" sz="19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/>
              <a:t>Improved </a:t>
            </a:r>
            <a:r>
              <a:rPr lang="en-US" sz="1900" b="1"/>
              <a:t>scalability and maintainability</a:t>
            </a:r>
            <a:r>
              <a:rPr lang="en-US" sz="1900"/>
              <a:t> of the schema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CEFE2A-9702-B546-429B-6C6732D1BF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659" t="964" r="-1" b="-964"/>
          <a:stretch>
            <a:fillRect/>
          </a:stretch>
        </p:blipFill>
        <p:spPr>
          <a:xfrm>
            <a:off x="8849032" y="1958329"/>
            <a:ext cx="2831935" cy="35807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BC6633-788A-21C9-158F-D85FE47720CC}"/>
              </a:ext>
            </a:extLst>
          </p:cNvPr>
          <p:cNvSpPr txBox="1"/>
          <p:nvPr/>
        </p:nvSpPr>
        <p:spPr>
          <a:xfrm>
            <a:off x="6394960" y="1046785"/>
            <a:ext cx="2251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Old dimensions</a:t>
            </a:r>
            <a:endParaRPr lang="en-CA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2D2A9E-8EEB-4316-E6E2-BE7DCE02E7A6}"/>
              </a:ext>
            </a:extLst>
          </p:cNvPr>
          <p:cNvSpPr txBox="1"/>
          <p:nvPr/>
        </p:nvSpPr>
        <p:spPr>
          <a:xfrm>
            <a:off x="8751662" y="1562833"/>
            <a:ext cx="2978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/>
              <a:t>New Role-Play Dimension</a:t>
            </a:r>
          </a:p>
        </p:txBody>
      </p:sp>
    </p:spTree>
    <p:extLst>
      <p:ext uri="{BB962C8B-B14F-4D97-AF65-F5344CB8AC3E}">
        <p14:creationId xmlns:p14="http://schemas.microsoft.com/office/powerpoint/2010/main" val="359169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11C456-8330-7F72-2D6B-34BEDAF9C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0E4AAE-3147-AF7F-EA84-A3B4809A1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88825" cy="737824"/>
          </a:xfrm>
        </p:spPr>
        <p:txBody>
          <a:bodyPr/>
          <a:lstStyle/>
          <a:p>
            <a:pPr algn="ctr"/>
            <a:r>
              <a:rPr lang="en-US" b="1"/>
              <a:t>Updated Snowflake</a:t>
            </a:r>
            <a:r>
              <a:rPr lang="en-US" b="1" dirty="0"/>
              <a:t> schema</a:t>
            </a:r>
            <a:endParaRPr lang="en-US" b="1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455870E-221C-518B-9D37-8CD61E9643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8F749CB-FD53-13CC-2E93-E0C0A62A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6B196-DD77-E958-2A5B-71CA479DD0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3"/>
          <a:stretch>
            <a:fillRect/>
          </a:stretch>
        </p:blipFill>
        <p:spPr>
          <a:xfrm>
            <a:off x="0" y="737825"/>
            <a:ext cx="12188825" cy="612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0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344AAF-4713-E20C-CE8E-04D1ACAE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288D06-230B-9252-C897-94F80552E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88825" cy="806245"/>
          </a:xfrm>
        </p:spPr>
        <p:txBody>
          <a:bodyPr/>
          <a:lstStyle/>
          <a:p>
            <a:pPr algn="ctr"/>
            <a:r>
              <a:rPr lang="en-US" b="1"/>
              <a:t>DAX Measures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5BE03E7-2C79-73E3-6D11-B5060A87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9044" y="6221896"/>
            <a:ext cx="455749" cy="457200"/>
          </a:xfrm>
        </p:spPr>
        <p:txBody>
          <a:bodyPr/>
          <a:lstStyle/>
          <a:p>
            <a:fld id="{DF28FB93-0A08-4E7D-8E63-9EFA29F1E093}" type="slidenum">
              <a:rPr lang="en-US" sz="2400" smtClean="0"/>
              <a:pPr/>
              <a:t>27</a:t>
            </a:fld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2FF96E-C59C-58DC-492A-911BED88820C}"/>
              </a:ext>
            </a:extLst>
          </p:cNvPr>
          <p:cNvSpPr txBox="1"/>
          <p:nvPr/>
        </p:nvSpPr>
        <p:spPr>
          <a:xfrm>
            <a:off x="109558" y="949597"/>
            <a:ext cx="8835983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Total number of DAX measures created: </a:t>
            </a:r>
            <a:r>
              <a:rPr lang="en-US" sz="2000" b="1" dirty="0"/>
              <a:t>28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bg1"/>
                </a:solidFill>
              </a:rPr>
              <a:t>Here are 5 sample of DAX measures: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700" b="1" dirty="0" err="1"/>
              <a:t>Total_Economic_Damage_Value</a:t>
            </a:r>
            <a:r>
              <a:rPr lang="en-US" sz="1700" b="1" dirty="0"/>
              <a:t> = </a:t>
            </a:r>
          </a:p>
          <a:p>
            <a:pPr lvl="1"/>
            <a:r>
              <a:rPr lang="en-US" sz="1700" b="1" dirty="0"/>
              <a:t>SUM(</a:t>
            </a:r>
            <a:r>
              <a:rPr lang="en-US" sz="1700" b="1" dirty="0" err="1"/>
              <a:t>Hisham_FACT_Economic_Impact</a:t>
            </a:r>
            <a:r>
              <a:rPr lang="en-US" sz="1700" b="1" dirty="0"/>
              <a:t>[</a:t>
            </a:r>
            <a:r>
              <a:rPr lang="en-US" sz="1700" b="1" dirty="0" err="1"/>
              <a:t>economic_damage_usd</a:t>
            </a:r>
            <a:r>
              <a:rPr lang="en-US" sz="1700" b="1" dirty="0"/>
              <a:t>])</a:t>
            </a:r>
          </a:p>
          <a:p>
            <a:pPr lvl="1"/>
            <a:endParaRPr lang="en-US" sz="17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b="1" dirty="0" err="1"/>
              <a:t>Displaced_Elderly</a:t>
            </a:r>
            <a:r>
              <a:rPr lang="en-US" sz="1700" b="1" dirty="0"/>
              <a:t> = </a:t>
            </a:r>
          </a:p>
          <a:p>
            <a:pPr lvl="1"/>
            <a:r>
              <a:rPr lang="en-US" sz="1700" b="1" dirty="0"/>
              <a:t>CALCULATE(</a:t>
            </a:r>
          </a:p>
          <a:p>
            <a:pPr lvl="1"/>
            <a:r>
              <a:rPr lang="en-US" sz="1700" b="1" dirty="0"/>
              <a:t>    SUM('Rayan- </a:t>
            </a:r>
            <a:r>
              <a:rPr lang="en-US" sz="1700" b="1" dirty="0" err="1"/>
              <a:t>FACT_Humanitarian_Impact</a:t>
            </a:r>
            <a:r>
              <a:rPr lang="en-US" sz="1700" b="1" dirty="0"/>
              <a:t>'[</a:t>
            </a:r>
            <a:r>
              <a:rPr lang="en-US" sz="1700" b="1" dirty="0" err="1"/>
              <a:t>affected_population</a:t>
            </a:r>
            <a:r>
              <a:rPr lang="en-US" sz="1700" b="1" dirty="0"/>
              <a:t>]) -</a:t>
            </a:r>
          </a:p>
          <a:p>
            <a:pPr lvl="1"/>
            <a:r>
              <a:rPr lang="en-US" sz="1700" b="1" dirty="0"/>
              <a:t>    SUM('Rayan- </a:t>
            </a:r>
            <a:r>
              <a:rPr lang="en-US" sz="1700" b="1" dirty="0" err="1"/>
              <a:t>FACT_Humanitarian_Impact</a:t>
            </a:r>
            <a:r>
              <a:rPr lang="en-US" sz="1700" b="1" dirty="0"/>
              <a:t>'[</a:t>
            </a:r>
            <a:r>
              <a:rPr lang="en-US" sz="1700" b="1" dirty="0" err="1"/>
              <a:t>children_affected_count</a:t>
            </a:r>
            <a:r>
              <a:rPr lang="en-US" sz="1700" b="1" dirty="0"/>
              <a:t>]) -</a:t>
            </a:r>
          </a:p>
          <a:p>
            <a:pPr lvl="1"/>
            <a:r>
              <a:rPr lang="en-US" sz="1700" b="1" dirty="0"/>
              <a:t>    SUM('Rayan- </a:t>
            </a:r>
            <a:r>
              <a:rPr lang="en-US" sz="1700" b="1" dirty="0" err="1"/>
              <a:t>FACT_Humanitarian_Impact</a:t>
            </a:r>
            <a:r>
              <a:rPr lang="en-US" sz="1700" b="1" dirty="0"/>
              <a:t>'[</a:t>
            </a:r>
            <a:r>
              <a:rPr lang="en-US" sz="1700" b="1" dirty="0" err="1"/>
              <a:t>women_affected_count</a:t>
            </a:r>
            <a:r>
              <a:rPr lang="en-US" sz="1700" b="1" dirty="0"/>
              <a:t>]))</a:t>
            </a:r>
          </a:p>
          <a:p>
            <a:pPr lvl="1"/>
            <a:endParaRPr lang="en-US" sz="17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700" b="1" dirty="0" err="1"/>
              <a:t>People_Without_Services</a:t>
            </a:r>
            <a:r>
              <a:rPr lang="en-US" sz="1700" b="1" dirty="0"/>
              <a:t> = </a:t>
            </a:r>
          </a:p>
          <a:p>
            <a:pPr lvl="1"/>
            <a:r>
              <a:rPr lang="en-US" sz="1700" b="1" dirty="0"/>
              <a:t>SUM('</a:t>
            </a:r>
            <a:r>
              <a:rPr lang="en-US" sz="1700" b="1" dirty="0" err="1"/>
              <a:t>Yousrsra</a:t>
            </a:r>
            <a:r>
              <a:rPr lang="en-US" sz="1700" b="1" dirty="0"/>
              <a:t>- </a:t>
            </a:r>
            <a:r>
              <a:rPr lang="en-US" sz="1700" b="1" dirty="0" err="1"/>
              <a:t>FACT_Infrastructure_Damage</a:t>
            </a:r>
            <a:r>
              <a:rPr lang="en-US" sz="1700" b="1" dirty="0"/>
              <a:t>'[</a:t>
            </a:r>
            <a:r>
              <a:rPr lang="en-US" sz="1700" b="1" dirty="0" err="1"/>
              <a:t>people_without_service_count</a:t>
            </a:r>
            <a:r>
              <a:rPr lang="en-US" sz="1700" b="1" dirty="0"/>
              <a:t>])</a:t>
            </a:r>
          </a:p>
          <a:p>
            <a:pPr lvl="1"/>
            <a:endParaRPr lang="en-US" sz="17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700" b="1" dirty="0"/>
              <a:t>Avg Organizations Responding = </a:t>
            </a:r>
          </a:p>
          <a:p>
            <a:pPr lvl="1"/>
            <a:r>
              <a:rPr lang="en-US" sz="1700" b="1" dirty="0"/>
              <a:t>AVERAGE('Hala- </a:t>
            </a:r>
            <a:r>
              <a:rPr lang="en-US" sz="1700" b="1" dirty="0" err="1"/>
              <a:t>FACT_International_Response</a:t>
            </a:r>
            <a:r>
              <a:rPr lang="en-US" sz="1700" b="1" dirty="0"/>
              <a:t>'[</a:t>
            </a:r>
            <a:r>
              <a:rPr lang="en-US" sz="1700" b="1" dirty="0" err="1"/>
              <a:t>aid_orgs_responding_count</a:t>
            </a:r>
            <a:r>
              <a:rPr lang="en-US" sz="1700" b="1" dirty="0"/>
              <a:t>])</a:t>
            </a:r>
          </a:p>
          <a:p>
            <a:pPr lvl="1"/>
            <a:endParaRPr lang="en-US" sz="17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b="1" dirty="0" err="1"/>
              <a:t>Total_Conflict_Events</a:t>
            </a:r>
            <a:r>
              <a:rPr lang="en-US" sz="1700" b="1" dirty="0"/>
              <a:t> = </a:t>
            </a:r>
          </a:p>
          <a:p>
            <a:pPr lvl="1"/>
            <a:r>
              <a:rPr lang="en-US" sz="1700" b="1" dirty="0"/>
              <a:t>COUNT(</a:t>
            </a:r>
            <a:r>
              <a:rPr lang="en-US" sz="1700" b="1" dirty="0" err="1"/>
              <a:t>Joseph_FACT_Conflict_Events</a:t>
            </a:r>
            <a:r>
              <a:rPr lang="en-US" sz="1700" b="1" dirty="0"/>
              <a:t>[</a:t>
            </a:r>
            <a:r>
              <a:rPr lang="en-US" sz="1700" b="1" dirty="0" err="1"/>
              <a:t>event_id_cnty</a:t>
            </a:r>
            <a:r>
              <a:rPr lang="en-US" sz="1700" b="1" dirty="0"/>
              <a:t>])</a:t>
            </a:r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5B4405A3-3311-483F-FAFA-6F9B4B0916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095243" y="4075987"/>
            <a:ext cx="3679304" cy="507858"/>
          </a:xfrm>
        </p:spPr>
        <p:txBody>
          <a:bodyPr/>
          <a:lstStyle/>
          <a:p>
            <a:r>
              <a:rPr lang="en-US" sz="3200" b="1" dirty="0"/>
              <a:t>STOP Wars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00C216-9471-F84D-22A9-EEE497E52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542" y="658761"/>
            <a:ext cx="2654368" cy="611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52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72E575-08F4-07D7-511D-17835196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9F7EFA7E-D2A5-8747-902F-CDD5DF8BBE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6958386-7DC5-984E-E771-30407951C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864612BA-CC87-402A-E11F-9C1B371EC30C}"/>
              </a:ext>
            </a:extLst>
          </p:cNvPr>
          <p:cNvSpPr txBox="1"/>
          <p:nvPr/>
        </p:nvSpPr>
        <p:spPr>
          <a:xfrm>
            <a:off x="-1" y="2717266"/>
            <a:ext cx="12188825" cy="1423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89"/>
              </a:lnSpc>
            </a:pPr>
            <a:r>
              <a:rPr lang="en-US" sz="9600" b="1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Dashboards</a:t>
            </a:r>
          </a:p>
        </p:txBody>
      </p:sp>
    </p:spTree>
    <p:extLst>
      <p:ext uri="{BB962C8B-B14F-4D97-AF65-F5344CB8AC3E}">
        <p14:creationId xmlns:p14="http://schemas.microsoft.com/office/powerpoint/2010/main" val="373539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1714A-5DFE-CDC8-3A33-8DBDDF3B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E734D9-281A-08D2-EAB7-C8DD4D2BF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88826" cy="825500"/>
          </a:xfrm>
        </p:spPr>
        <p:txBody>
          <a:bodyPr/>
          <a:lstStyle/>
          <a:p>
            <a:pPr algn="ctr"/>
            <a:r>
              <a:rPr lang="en-US" sz="4400" b="1"/>
              <a:t>Interactive Dashboards Features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13D6B6A-31CA-EE68-4B13-78704CD29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9044" y="6221896"/>
            <a:ext cx="455749" cy="457200"/>
          </a:xfrm>
        </p:spPr>
        <p:txBody>
          <a:bodyPr/>
          <a:lstStyle/>
          <a:p>
            <a:fld id="{DF28FB93-0A08-4E7D-8E63-9EFA29F1E093}" type="slidenum">
              <a:rPr lang="en-US" sz="2400" smtClean="0"/>
              <a:pPr/>
              <a:t>29</a:t>
            </a:fld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D35BE7-1BB2-5486-6F2E-297173C37E03}"/>
              </a:ext>
            </a:extLst>
          </p:cNvPr>
          <p:cNvSpPr txBox="1"/>
          <p:nvPr/>
        </p:nvSpPr>
        <p:spPr>
          <a:xfrm>
            <a:off x="372644" y="969263"/>
            <a:ext cx="11308322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/>
              <a:t>COLOR SCHEME (UNIFIED DASHBOARD THEME-RED):</a:t>
            </a:r>
          </a:p>
          <a:p>
            <a:endParaRPr lang="en-CA" sz="1700" b="1"/>
          </a:p>
          <a:p>
            <a:r>
              <a:rPr lang="en-CA" sz="1700" b="1"/>
              <a:t>All Dashboards Uses UNIFIED COUNTRY COLORS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700" b="1"/>
              <a:t>Red Spectrum: #C50F1F, #F7630C, #8B0000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700" b="1"/>
              <a:t>Consistent with crisis urgency and vulnerability hierarchy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700" b="1"/>
              <a:t>Color blind accessible with distinct contrast levels</a:t>
            </a:r>
          </a:p>
          <a:p>
            <a:endParaRPr lang="en-CA"/>
          </a:p>
          <a:p>
            <a:r>
              <a:rPr lang="en-CA" b="1"/>
              <a:t>INTERACTIVITY FEATURES (CROSS-DASHBOARD):</a:t>
            </a:r>
            <a:endParaRPr lang="en-CA"/>
          </a:p>
          <a:p>
            <a:endParaRPr lang="en-CA" sz="1700" b="1"/>
          </a:p>
          <a:p>
            <a:r>
              <a:rPr lang="en-CA" sz="1700" b="1"/>
              <a:t>DRILL-DOWN HIERARCHY: Country → Crisis Type → Time Period</a:t>
            </a:r>
          </a:p>
          <a:p>
            <a:endParaRPr lang="en-CA" sz="1700" b="1"/>
          </a:p>
          <a:p>
            <a:r>
              <a:rPr lang="en-CA" sz="1700" b="1"/>
              <a:t>CROSS-FILTERING SETUP: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700" b="1"/>
              <a:t>Click country bar → Filters entire dashboard to that country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700" b="1"/>
              <a:t>Click legend item → Highlights that demographic across ALL 5 team visuals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700" b="1"/>
              <a:t>Click specific segment → Filters to that demographic + country combination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700" b="1"/>
              <a:t>Synchronized with Hisham,  Rayan, Youssra, Hala, Joseph charts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700" b="1"/>
              <a:t>Bidirectional filtering enabled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700" b="1"/>
              <a:t>All dashboards' visuals include the feature once the user select a visual, all information will be displayed</a:t>
            </a:r>
            <a:endParaRPr lang="en-CA"/>
          </a:p>
        </p:txBody>
      </p:sp>
      <p:sp>
        <p:nvSpPr>
          <p:cNvPr id="3" name="Footer Placeholder 14">
            <a:extLst>
              <a:ext uri="{FF2B5EF4-FFF2-40B4-BE49-F238E27FC236}">
                <a16:creationId xmlns:a16="http://schemas.microsoft.com/office/drawing/2014/main" id="{7E0DE2D1-E099-CCB5-768D-840959E442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095243" y="4075987"/>
            <a:ext cx="3679304" cy="507858"/>
          </a:xfrm>
        </p:spPr>
        <p:txBody>
          <a:bodyPr/>
          <a:lstStyle/>
          <a:p>
            <a:r>
              <a:rPr lang="en-US" sz="3200" b="1" dirty="0"/>
              <a:t>STOP Wars</a:t>
            </a:r>
          </a:p>
        </p:txBody>
      </p:sp>
    </p:spTree>
    <p:extLst>
      <p:ext uri="{BB962C8B-B14F-4D97-AF65-F5344CB8AC3E}">
        <p14:creationId xmlns:p14="http://schemas.microsoft.com/office/powerpoint/2010/main" val="1480852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C2D815-683A-819B-EAC2-AA55E7DD4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808556-6D52-D79D-CF4C-09E86CF90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88825" cy="688432"/>
          </a:xfrm>
        </p:spPr>
        <p:txBody>
          <a:bodyPr/>
          <a:lstStyle/>
          <a:p>
            <a:pPr algn="ctr"/>
            <a:r>
              <a:rPr lang="en-US" b="1"/>
              <a:t>Overall Dashboard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744BC52-7A97-61B9-A494-2EE17683E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9044" y="6221896"/>
            <a:ext cx="455749" cy="457200"/>
          </a:xfrm>
        </p:spPr>
        <p:txBody>
          <a:bodyPr/>
          <a:lstStyle/>
          <a:p>
            <a:fld id="{DF28FB93-0A08-4E7D-8E63-9EFA29F1E093}" type="slidenum">
              <a:rPr lang="en-US" sz="2400" smtClean="0"/>
              <a:pPr/>
              <a:t>30</a:t>
            </a:fld>
            <a:endParaRPr lang="en-US" sz="2400"/>
          </a:p>
        </p:txBody>
      </p:sp>
      <p:sp>
        <p:nvSpPr>
          <p:cNvPr id="9" name="Footer Placeholder 14">
            <a:extLst>
              <a:ext uri="{FF2B5EF4-FFF2-40B4-BE49-F238E27FC236}">
                <a16:creationId xmlns:a16="http://schemas.microsoft.com/office/drawing/2014/main" id="{83908D07-838E-6B76-DEF3-72BEE25349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095243" y="4075987"/>
            <a:ext cx="3679304" cy="507858"/>
          </a:xfrm>
        </p:spPr>
        <p:txBody>
          <a:bodyPr/>
          <a:lstStyle/>
          <a:p>
            <a:r>
              <a:rPr lang="en-US" sz="3200" b="1" dirty="0"/>
              <a:t>STOP Wars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3AA168-F0F5-C10B-EBD0-F71B632DED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688432"/>
            <a:ext cx="11680968" cy="616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9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551EA7-99FB-5AC5-3F62-19EDF0BAD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E2990B-DA04-0CDD-1E41-FD325500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88825" cy="688432"/>
          </a:xfrm>
        </p:spPr>
        <p:txBody>
          <a:bodyPr/>
          <a:lstStyle/>
          <a:p>
            <a:pPr algn="ctr"/>
            <a:r>
              <a:rPr lang="en-US" b="1"/>
              <a:t>Hisham’s Dashboard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2DE8B1B9-60E0-0FD3-2494-54F9A4CBF8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095243" y="4075987"/>
            <a:ext cx="3679304" cy="50785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11EFCCD-3A86-B4ED-1BDE-F8FA1F147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347B59-982E-1229-846D-BACAFA2205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88433"/>
            <a:ext cx="11680967" cy="616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376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BD88D-493F-D045-8CE0-A6699ED23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C9A892-4922-F9F2-F307-B27F66806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636103"/>
          </a:xfrm>
        </p:spPr>
        <p:txBody>
          <a:bodyPr/>
          <a:lstStyle/>
          <a:p>
            <a:pPr algn="ctr"/>
            <a:r>
              <a:rPr lang="en-US" b="1"/>
              <a:t>Rayan’s Dashboard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C8759D8-9515-AFB2-A77D-F78DEA1BF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6690" y="6221896"/>
            <a:ext cx="398104" cy="457200"/>
          </a:xfrm>
        </p:spPr>
        <p:txBody>
          <a:bodyPr/>
          <a:lstStyle/>
          <a:p>
            <a:fld id="{DF28FB93-0A08-4E7D-8E63-9EFA29F1E093}" type="slidenum">
              <a:rPr lang="en-US" sz="2400" smtClean="0"/>
              <a:pPr/>
              <a:t>32</a:t>
            </a:fld>
            <a:endParaRPr lang="en-US" sz="2400"/>
          </a:p>
        </p:txBody>
      </p:sp>
      <p:sp>
        <p:nvSpPr>
          <p:cNvPr id="2" name="Footer Placeholder 14">
            <a:extLst>
              <a:ext uri="{FF2B5EF4-FFF2-40B4-BE49-F238E27FC236}">
                <a16:creationId xmlns:a16="http://schemas.microsoft.com/office/drawing/2014/main" id="{BBD46A5F-C0BA-18BD-0500-50BEDE3BBC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095243" y="4075987"/>
            <a:ext cx="3679304" cy="507858"/>
          </a:xfrm>
        </p:spPr>
        <p:txBody>
          <a:bodyPr/>
          <a:lstStyle/>
          <a:p>
            <a:r>
              <a:rPr lang="en-US" sz="3200" b="1" dirty="0"/>
              <a:t>STOP Wars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686B3B-F064-9BAE-0CF9-FB5E0AC22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8432"/>
            <a:ext cx="11680966" cy="616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47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7A8DE3-4B2D-8142-A5D7-2EC9BD8D3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82EDE0-1467-44CB-97D9-BD5D9D4A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88825" cy="688432"/>
          </a:xfrm>
        </p:spPr>
        <p:txBody>
          <a:bodyPr/>
          <a:lstStyle/>
          <a:p>
            <a:pPr algn="ctr"/>
            <a:r>
              <a:rPr lang="en-US" b="1"/>
              <a:t>Youssra’s Dashboard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9DDA2E88-42A7-A261-FB8F-A112F38397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4517FA0-8C89-2077-D7BD-83D298C4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90F9DA-3C3F-5D90-7AEB-992395184C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88432"/>
            <a:ext cx="11680967" cy="616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2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BE26D-B668-6276-2CE2-C34215161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A6CE1B-4916-F5C8-51F1-9BE6A09A9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8621"/>
            <a:ext cx="12188825" cy="679812"/>
          </a:xfrm>
        </p:spPr>
        <p:txBody>
          <a:bodyPr/>
          <a:lstStyle/>
          <a:p>
            <a:pPr algn="ctr"/>
            <a:r>
              <a:rPr lang="en-US" b="1"/>
              <a:t>Hala’s Dashboard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07A73B6-9753-83F0-FCC4-8E70B72F7D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F73CB6C-CF15-5D24-7B28-8A547A113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1A2E3462-2F39-46CA-FD44-76C6034187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88432"/>
            <a:ext cx="11680967" cy="616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2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15C2E5-AD3F-62EA-7F8B-2BBFF4BE5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FBEF33-939F-B33C-8921-58E20A757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74700"/>
          </a:xfrm>
        </p:spPr>
        <p:txBody>
          <a:bodyPr/>
          <a:lstStyle/>
          <a:p>
            <a:pPr algn="ctr"/>
            <a:r>
              <a:rPr lang="en-US" b="1"/>
              <a:t>Joseph’s Dashboard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F05506B-D86F-D48A-2F2C-D058C34D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z="2400" smtClean="0"/>
              <a:pPr/>
              <a:t>35</a:t>
            </a:fld>
            <a:endParaRPr lang="en-US" sz="2400"/>
          </a:p>
        </p:txBody>
      </p:sp>
      <p:sp>
        <p:nvSpPr>
          <p:cNvPr id="2" name="Footer Placeholder 14">
            <a:extLst>
              <a:ext uri="{FF2B5EF4-FFF2-40B4-BE49-F238E27FC236}">
                <a16:creationId xmlns:a16="http://schemas.microsoft.com/office/drawing/2014/main" id="{E5018DC1-33E4-6500-7B9E-477FF613D4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095243" y="4075987"/>
            <a:ext cx="3679304" cy="507858"/>
          </a:xfrm>
        </p:spPr>
        <p:txBody>
          <a:bodyPr/>
          <a:lstStyle/>
          <a:p>
            <a:r>
              <a:rPr lang="en-US" sz="3200" b="1" dirty="0"/>
              <a:t>STOP Wars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D9C29E-C7AE-7552-5F1D-CB931A1A26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4700"/>
            <a:ext cx="11680966" cy="608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4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2F822-A0B3-C1B5-907B-96903CF9B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ADA3265-D0D4-EC13-8FE0-6CA4303381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1AC3978-C211-E169-5EA7-B46A2CBE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9A18AC6-F8D0-939A-248D-94A9F5AFB9E1}"/>
              </a:ext>
            </a:extLst>
          </p:cNvPr>
          <p:cNvSpPr txBox="1"/>
          <p:nvPr/>
        </p:nvSpPr>
        <p:spPr>
          <a:xfrm>
            <a:off x="-1" y="2717266"/>
            <a:ext cx="12188825" cy="1423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89"/>
              </a:lnSpc>
            </a:pPr>
            <a:r>
              <a:rPr lang="en-US" sz="9600" b="1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Power BI Demo</a:t>
            </a:r>
          </a:p>
        </p:txBody>
      </p:sp>
    </p:spTree>
    <p:extLst>
      <p:ext uri="{BB962C8B-B14F-4D97-AF65-F5344CB8AC3E}">
        <p14:creationId xmlns:p14="http://schemas.microsoft.com/office/powerpoint/2010/main" val="526402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9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FCB68E-026B-675C-B12B-449E6D86D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449F9EC-E0F7-CAEA-E969-530649980A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10110268" y="4060962"/>
            <a:ext cx="3679304" cy="537908"/>
          </a:xfrm>
        </p:spPr>
        <p:txBody>
          <a:bodyPr/>
          <a:lstStyle/>
          <a:p>
            <a:r>
              <a:rPr lang="en-US" sz="3200" b="1"/>
              <a:t>STOP Wars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A401431-4B60-3C1F-995F-608519DC0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154" y="6221896"/>
            <a:ext cx="548640" cy="457200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A5773715-8D3A-90AD-DEC8-A55921C5037C}"/>
              </a:ext>
            </a:extLst>
          </p:cNvPr>
          <p:cNvSpPr txBox="1"/>
          <p:nvPr/>
        </p:nvSpPr>
        <p:spPr>
          <a:xfrm>
            <a:off x="2296969" y="2154009"/>
            <a:ext cx="7594888" cy="1337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89"/>
              </a:lnSpc>
            </a:pPr>
            <a:r>
              <a:rPr lang="en-US" sz="9241" b="1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THANK YOU!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444D0816-856E-B710-CFDA-C72613A2D086}"/>
              </a:ext>
            </a:extLst>
          </p:cNvPr>
          <p:cNvSpPr txBox="1"/>
          <p:nvPr/>
        </p:nvSpPr>
        <p:spPr>
          <a:xfrm>
            <a:off x="3648939" y="3569690"/>
            <a:ext cx="4890947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8"/>
              </a:lnSpc>
            </a:pPr>
            <a:r>
              <a:rPr lang="en-US" sz="3848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83091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ooks Classic 16x9">
  <a:themeElements>
    <a:clrScheme name="Custom 71">
      <a:dk1>
        <a:srgbClr val="000000"/>
      </a:dk1>
      <a:lt1>
        <a:srgbClr val="FFFFFF"/>
      </a:lt1>
      <a:dk2>
        <a:srgbClr val="693A20"/>
      </a:dk2>
      <a:lt2>
        <a:srgbClr val="E7E4E6"/>
      </a:lt2>
      <a:accent1>
        <a:srgbClr val="512823"/>
      </a:accent1>
      <a:accent2>
        <a:srgbClr val="B98D34"/>
      </a:accent2>
      <a:accent3>
        <a:srgbClr val="610606"/>
      </a:accent3>
      <a:accent4>
        <a:srgbClr val="FFEDB9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ustom 89">
      <a:majorFont>
        <a:latin typeface="Book Antiqua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50000"/>
              </a:schemeClr>
            </a:gs>
            <a:gs pos="60000">
              <a:schemeClr val="phClr">
                <a:shade val="20000"/>
                <a:satMod val="25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/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 book education presentation (widescreen)_Win32_v3" id="{4B7EA318-15E2-473F-9AB3-202EC7071CC7}" vid="{CC1661AE-A1F1-46A0-A328-D33A145270B8}"/>
    </a:ext>
  </a:extLst>
</a:theme>
</file>

<file path=ppt/theme/theme2.xml><?xml version="1.0" encoding="utf-8"?>
<a:theme xmlns:a="http://schemas.openxmlformats.org/drawingml/2006/main" name="Office Them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21D11727DFD04B9273D85BD8A4B1CB" ma:contentTypeVersion="9" ma:contentTypeDescription="Create a new document." ma:contentTypeScope="" ma:versionID="6398a8dfb5b47326b583f56cd59fc6c3">
  <xsd:schema xmlns:xsd="http://www.w3.org/2001/XMLSchema" xmlns:xs="http://www.w3.org/2001/XMLSchema" xmlns:p="http://schemas.microsoft.com/office/2006/metadata/properties" xmlns:ns3="10974b5e-81e5-452c-a7c1-6dc95d0bf8d3" targetNamespace="http://schemas.microsoft.com/office/2006/metadata/properties" ma:root="true" ma:fieldsID="c4a838d6c7e01915585860c0d877aed1" ns3:_="">
    <xsd:import namespace="10974b5e-81e5-452c-a7c1-6dc95d0bf8d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974b5e-81e5-452c-a7c1-6dc95d0bf8d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974b5e-81e5-452c-a7c1-6dc95d0bf8d3" xsi:nil="true"/>
  </documentManagement>
</p:properties>
</file>

<file path=customXml/itemProps1.xml><?xml version="1.0" encoding="utf-8"?>
<ds:datastoreItem xmlns:ds="http://schemas.openxmlformats.org/officeDocument/2006/customXml" ds:itemID="{A0DFC0D1-1B0B-42CC-AE2E-8618AA6A6AA7}">
  <ds:schemaRefs>
    <ds:schemaRef ds:uri="10974b5e-81e5-452c-a7c1-6dc95d0bf8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28458A3-99B8-4914-89E6-B86ADB0D7D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6EAEDD-6865-458C-AB5E-1E0979B7BC44}">
  <ds:schemaRefs>
    <ds:schemaRef ds:uri="http://purl.org/dc/dcmitype/"/>
    <ds:schemaRef ds:uri="http://purl.org/dc/terms/"/>
    <ds:schemaRef ds:uri="10974b5e-81e5-452c-a7c1-6dc95d0bf8d3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{781D52EB-8947-4715-A9C6-73913B90DCD6}TF494b6564-7c78-4ca3-8c60-7933eb38dad1336b9bc6_win32-eee54183cc64</Template>
  <TotalTime>0</TotalTime>
  <Words>1087</Words>
  <Application>Microsoft Office PowerPoint</Application>
  <PresentationFormat>Custom</PresentationFormat>
  <Paragraphs>250</Paragraphs>
  <Slides>37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Book Antiqua</vt:lpstr>
      <vt:lpstr>Constantia</vt:lpstr>
      <vt:lpstr>DM Sans Bold</vt:lpstr>
      <vt:lpstr>Gill Sans MT</vt:lpstr>
      <vt:lpstr>TT Supermolot Neue Bold</vt:lpstr>
      <vt:lpstr>Books Classic 16x9</vt:lpstr>
      <vt:lpstr>Effects of Crisis/Conflicts on Countries  Data Modeling Project</vt:lpstr>
      <vt:lpstr>Team 1 - members</vt:lpstr>
      <vt:lpstr>PROBLEM OVERVIEW</vt:lpstr>
      <vt:lpstr>5 Business problems</vt:lpstr>
      <vt:lpstr>Data Sources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Dimensional Modeling Approach</vt:lpstr>
      <vt:lpstr>PowerPoint Presentation</vt:lpstr>
      <vt:lpstr>Snowflake schema</vt:lpstr>
      <vt:lpstr>PowerPoint Presentation</vt:lpstr>
      <vt:lpstr>PowerPoint Presentation</vt:lpstr>
      <vt:lpstr>Youssra star schema</vt:lpstr>
      <vt:lpstr>Hala star schema</vt:lpstr>
      <vt:lpstr>Joseph OLD star schema</vt:lpstr>
      <vt:lpstr>Joseph New star schema</vt:lpstr>
      <vt:lpstr>Joseph schema Changes</vt:lpstr>
      <vt:lpstr>Updated Snowflake schema</vt:lpstr>
      <vt:lpstr>DAX Measures</vt:lpstr>
      <vt:lpstr>PowerPoint Presentation</vt:lpstr>
      <vt:lpstr>Interactive Dashboards Features</vt:lpstr>
      <vt:lpstr>Overall Dashboard</vt:lpstr>
      <vt:lpstr>Hisham’s Dashboard</vt:lpstr>
      <vt:lpstr>Rayan’s Dashboard</vt:lpstr>
      <vt:lpstr>Youssra’s Dashboard</vt:lpstr>
      <vt:lpstr>Hala’s Dashboard</vt:lpstr>
      <vt:lpstr>Joseph’s Dashboard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Rayan Haidar</dc:creator>
  <cp:lastModifiedBy>Rayan Haidar</cp:lastModifiedBy>
  <cp:revision>2</cp:revision>
  <dcterms:created xsi:type="dcterms:W3CDTF">2026-03-16T21:15:44Z</dcterms:created>
  <dcterms:modified xsi:type="dcterms:W3CDTF">2026-05-07T01:53:28Z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0x0101001721D11727DFD04B9273D85BD8A4B1CB</vt:lpwstr>
  </property>
</Properties>
</file>